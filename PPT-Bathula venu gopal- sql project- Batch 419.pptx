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60" r:id="rId4"/>
    <p:sldId id="261" r:id="rId5"/>
    <p:sldId id="262" r:id="rId6"/>
    <p:sldId id="264" r:id="rId7"/>
    <p:sldId id="266" r:id="rId8"/>
    <p:sldId id="267" r:id="rId9"/>
    <p:sldId id="268" r:id="rId10"/>
    <p:sldId id="269" r:id="rId11"/>
    <p:sldId id="275" r:id="rId12"/>
    <p:sldId id="276" r:id="rId13"/>
    <p:sldId id="277" r:id="rId14"/>
    <p:sldId id="278" r:id="rId15"/>
    <p:sldId id="279" r:id="rId16"/>
    <p:sldId id="280" r:id="rId17"/>
    <p:sldId id="281" r:id="rId18"/>
    <p:sldId id="282" r:id="rId19"/>
    <p:sldId id="283" r:id="rId20"/>
    <p:sldId id="284" r:id="rId21"/>
    <p:sldId id="293" r:id="rId22"/>
    <p:sldId id="292" r:id="rId23"/>
    <p:sldId id="295" r:id="rId24"/>
    <p:sldId id="296" r:id="rId25"/>
    <p:sldId id="297" r:id="rId26"/>
    <p:sldId id="298" r:id="rId27"/>
    <p:sldId id="272" r:id="rId28"/>
    <p:sldId id="273" r:id="rId29"/>
    <p:sldId id="274" r:id="rId30"/>
    <p:sldId id="259" r:id="rId31"/>
  </p:sldIdLst>
  <p:sldSz cx="12192000" cy="6858000"/>
  <p:notesSz cx="6858000" cy="9144000"/>
  <p:embeddedFontLst>
    <p:embeddedFont>
      <p:font typeface="Lato Black" panose="020F0502020204030203" pitchFamily="34" charset="0"/>
      <p:bold r:id="rId33"/>
      <p:boldItalic r:id="rId34"/>
    </p:embeddedFont>
    <p:embeddedFont>
      <p:font typeface="Libre Baskerville" panose="02000000000000000000" pitchFamily="2" charset="0"/>
      <p:regular r:id="rId35"/>
      <p:bold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78845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4" y="3717986"/>
            <a:ext cx="7389553" cy="2308284"/>
          </a:xfrm>
          <a:prstGeom prst="rect">
            <a:avLst/>
          </a:prstGeom>
          <a:noFill/>
          <a:ln>
            <a:noFill/>
          </a:ln>
        </p:spPr>
        <p:txBody>
          <a:bodyPr spcFirstLastPara="1" wrap="square" lIns="91425" tIns="45700" rIns="91425" bIns="45700" anchor="t" anchorCtr="0">
            <a:spAutoFit/>
          </a:bodyPr>
          <a:lstStyle/>
          <a:p>
            <a:pPr lvl="0" algn="ctr">
              <a:buSzPts val="1800"/>
            </a:pPr>
            <a:r>
              <a:rPr lang="en-IN" sz="2800" b="1" u="sng" dirty="0"/>
              <a:t>Employee Management System</a:t>
            </a:r>
          </a:p>
          <a:p>
            <a:pPr lvl="0" algn="ctr">
              <a:buSzPts val="1800"/>
            </a:pPr>
            <a:endParaRPr lang="en-IN" sz="2800" b="1" u="sng" dirty="0">
              <a:solidFill>
                <a:schemeClr val="tx1"/>
              </a:solidFill>
              <a:latin typeface="Times New Roman" panose="02020603050405020304" pitchFamily="18" charset="0"/>
              <a:cs typeface="Times New Roman" panose="02020603050405020304" pitchFamily="18" charset="0"/>
            </a:endParaRPr>
          </a:p>
          <a:p>
            <a:pPr lvl="0" algn="ctr">
              <a:buSzPts val="1800"/>
            </a:pPr>
            <a:endParaRPr lang="en-IN" sz="2800" b="1" u="sng" dirty="0">
              <a:solidFill>
                <a:schemeClr val="tx1"/>
              </a:solidFill>
              <a:latin typeface="Times New Roman" panose="02020603050405020304" pitchFamily="18" charset="0"/>
              <a:cs typeface="Times New Roman" panose="02020603050405020304" pitchFamily="18" charset="0"/>
            </a:endParaRPr>
          </a:p>
          <a:p>
            <a:pPr lvl="0" algn="ctr">
              <a:buSzPts val="1800"/>
            </a:pPr>
            <a:endParaRPr lang="en-IN" sz="2800" b="1" u="sng" dirty="0">
              <a:solidFill>
                <a:schemeClr val="tx1"/>
              </a:solidFill>
              <a:latin typeface="Times New Roman" panose="02020603050405020304" pitchFamily="18" charset="0"/>
              <a:cs typeface="Times New Roman" panose="02020603050405020304" pitchFamily="18" charset="0"/>
            </a:endParaRPr>
          </a:p>
          <a:p>
            <a:pPr lvl="0" algn="ctr">
              <a:buSzPts val="1800"/>
            </a:pPr>
            <a:r>
              <a:rPr lang="en-US" sz="1600" b="1" dirty="0">
                <a:solidFill>
                  <a:schemeClr val="tx1"/>
                </a:solidFill>
                <a:latin typeface="Times New Roman" panose="02020603050405020304" pitchFamily="18" charset="0"/>
                <a:cs typeface="Times New Roman" panose="02020603050405020304" pitchFamily="18" charset="0"/>
              </a:rPr>
              <a:t>                                                                Name : BATHULA VENU GOPAL</a:t>
            </a:r>
          </a:p>
          <a:p>
            <a:pPr lvl="0" algn="ctr">
              <a:buSzPts val="1800"/>
            </a:pPr>
            <a:r>
              <a:rPr lang="en-US" sz="1600" b="1" dirty="0">
                <a:solidFill>
                  <a:schemeClr val="tx1"/>
                </a:solidFill>
                <a:latin typeface="Times New Roman" panose="02020603050405020304" pitchFamily="18" charset="0"/>
                <a:cs typeface="Times New Roman" panose="02020603050405020304" pitchFamily="18" charset="0"/>
              </a:rPr>
              <a:t>                              Batch NO : 419</a:t>
            </a:r>
            <a:r>
              <a:rPr lang="en-IN" sz="1600" b="1" u="sng" dirty="0"/>
              <a:t> </a:t>
            </a:r>
            <a:endParaRPr sz="1600" b="1" i="0" u="sng"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952416" y="1280511"/>
            <a:ext cx="7007400" cy="5262939"/>
          </a:xfrm>
          <a:prstGeom prst="rect">
            <a:avLst/>
          </a:prstGeom>
          <a:noFill/>
          <a:ln>
            <a:noFill/>
          </a:ln>
        </p:spPr>
        <p:txBody>
          <a:bodyPr spcFirstLastPara="1" wrap="square" lIns="91425" tIns="45700" rIns="91425" bIns="45700" anchor="t" anchorCtr="0">
            <a:spAutoFit/>
          </a:bodyPr>
          <a:lstStyle/>
          <a:p>
            <a:pPr>
              <a:buFont typeface="Arial" panose="020B0604020202020204" pitchFamily="34" charset="0"/>
              <a:buChar char="•"/>
            </a:pPr>
            <a:r>
              <a:rPr lang="en-US" sz="2400" b="1" dirty="0">
                <a:latin typeface="Aptos" panose="020B0004020202020204" pitchFamily="34" charset="0"/>
                <a:cs typeface="Times New Roman" panose="02020603050405020304" pitchFamily="18" charset="0"/>
              </a:rPr>
              <a:t>Back ground :</a:t>
            </a:r>
            <a:r>
              <a:rPr lang="en-US" sz="2400" dirty="0">
                <a:latin typeface="Aptos" panose="020B0004020202020204" pitchFamily="34" charset="0"/>
                <a:cs typeface="Times New Roman" panose="02020603050405020304" pitchFamily="18" charset="0"/>
              </a:rPr>
              <a:t> I Completed my </a:t>
            </a:r>
            <a:r>
              <a:rPr lang="en-US" sz="2400" dirty="0" err="1">
                <a:latin typeface="Aptos" panose="020B0004020202020204" pitchFamily="34" charset="0"/>
                <a:cs typeface="Times New Roman" panose="02020603050405020304" pitchFamily="18" charset="0"/>
              </a:rPr>
              <a:t>B.tech</a:t>
            </a:r>
            <a:r>
              <a:rPr lang="en-US" sz="2400" dirty="0">
                <a:latin typeface="Aptos" panose="020B0004020202020204" pitchFamily="34" charset="0"/>
                <a:cs typeface="Times New Roman" panose="02020603050405020304" pitchFamily="18" charset="0"/>
              </a:rPr>
              <a:t> from VIT University</a:t>
            </a:r>
          </a:p>
          <a:p>
            <a:endParaRPr lang="en-US" sz="2400" dirty="0">
              <a:latin typeface="Aptos" panose="020B0004020202020204" pitchFamily="34" charset="0"/>
              <a:cs typeface="Times New Roman" panose="02020603050405020304" pitchFamily="18" charset="0"/>
            </a:endParaRPr>
          </a:p>
          <a:p>
            <a:pPr lvl="2" algn="just">
              <a:buFont typeface="Arial" panose="020B0604020202020204" pitchFamily="34" charset="0"/>
              <a:buChar char="•"/>
              <a:defRPr sz="1800"/>
            </a:pPr>
            <a:r>
              <a:rPr lang="en-US" sz="2400" b="1" dirty="0">
                <a:solidFill>
                  <a:schemeClr val="tx1"/>
                </a:solidFill>
                <a:latin typeface="Aptos" panose="020B0004020202020204" pitchFamily="34" charset="0"/>
                <a:cs typeface="Times New Roman" panose="02020603050405020304" pitchFamily="18" charset="0"/>
              </a:rPr>
              <a:t>Why I want to learn Data Science: </a:t>
            </a:r>
          </a:p>
          <a:p>
            <a:pPr lvl="6" algn="just">
              <a:defRPr sz="1800"/>
            </a:pPr>
            <a:r>
              <a:rPr lang="en-US" sz="2400" dirty="0">
                <a:latin typeface="Aptos" panose="020B0004020202020204" pitchFamily="34" charset="0"/>
                <a:cs typeface="Times New Roman" panose="02020603050405020304" pitchFamily="18" charset="0"/>
              </a:rPr>
              <a:t>I am passionate about analyzing real-world problems through data-driven insights.</a:t>
            </a:r>
          </a:p>
          <a:p>
            <a:pPr lvl="8" algn="just">
              <a:defRPr sz="1800"/>
            </a:pPr>
            <a:r>
              <a:rPr lang="en-US" sz="2400" dirty="0">
                <a:latin typeface="Aptos" panose="020B0004020202020204" pitchFamily="34" charset="0"/>
                <a:cs typeface="Times New Roman" panose="02020603050405020304" pitchFamily="18" charset="0"/>
              </a:rPr>
              <a:t>Learning Data Science will help me gain better growth in my career and build strong analytical and technical skills for future opportunities.</a:t>
            </a:r>
          </a:p>
          <a:p>
            <a:pPr lvl="8" algn="just">
              <a:defRPr sz="1800"/>
            </a:pPr>
            <a:endParaRPr lang="en-US" sz="2400" dirty="0">
              <a:latin typeface="Aptos" panose="020B0004020202020204" pitchFamily="34" charset="0"/>
              <a:cs typeface="Times New Roman" panose="02020603050405020304" pitchFamily="18" charset="0"/>
            </a:endParaRPr>
          </a:p>
          <a:p>
            <a:pPr>
              <a:buFont typeface="Arial" panose="020B0604020202020204" pitchFamily="34" charset="0"/>
              <a:buChar char="•"/>
              <a:defRPr sz="1800"/>
            </a:pPr>
            <a:r>
              <a:rPr lang="en-US" sz="2400" dirty="0">
                <a:latin typeface="Aptos" panose="020B0004020202020204" pitchFamily="34" charset="0"/>
                <a:cs typeface="Times New Roman" panose="02020603050405020304" pitchFamily="18" charset="0"/>
              </a:rPr>
              <a:t>  </a:t>
            </a:r>
            <a:r>
              <a:rPr lang="en-US" sz="2400" b="1" dirty="0">
                <a:latin typeface="Aptos" panose="020B0004020202020204" pitchFamily="34" charset="0"/>
                <a:cs typeface="Times New Roman" panose="02020603050405020304" pitchFamily="18" charset="0"/>
              </a:rPr>
              <a:t>Work Experience: </a:t>
            </a:r>
            <a:r>
              <a:rPr lang="en-US" sz="2400" dirty="0">
                <a:latin typeface="Aptos" panose="020B0004020202020204" pitchFamily="34" charset="0"/>
              </a:rPr>
              <a:t>My previous experience is from a non-IT background, where I extensively worked with Excel for data handling and reporting</a:t>
            </a:r>
            <a:endParaRPr lang="en-US" sz="2400" dirty="0">
              <a:latin typeface="Aptos" panose="020B0004020202020204" pitchFamily="34" charset="0"/>
              <a:cs typeface="Times New Roman" panose="02020603050405020304" pitchFamily="18" charset="0"/>
            </a:endParaRPr>
          </a:p>
          <a:p>
            <a:pPr>
              <a:defRPr sz="1800"/>
            </a:pPr>
            <a:endParaRPr lang="en-US" sz="2400" dirty="0">
              <a:latin typeface="Times New Roman" panose="02020603050405020304" pitchFamily="18" charset="0"/>
              <a:cs typeface="Times New Roman" panose="02020603050405020304" pitchFamily="18" charset="0"/>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a:solidFill>
                  <a:srgbClr val="FF0000"/>
                </a:solidFill>
                <a:latin typeface="Lato Black"/>
                <a:ea typeface="Lato Black"/>
                <a:cs typeface="Lato Black"/>
                <a:sym typeface="Lato Black"/>
              </a:rPr>
              <a:t>About me</a:t>
            </a:r>
            <a:endParaRPr sz="1800" b="0" i="0" u="none" strike="noStrike" cap="none">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D0DA1-6444-2F75-0F86-5A3D3109275F}"/>
              </a:ext>
            </a:extLst>
          </p:cNvPr>
          <p:cNvSpPr>
            <a:spLocks noGrp="1"/>
          </p:cNvSpPr>
          <p:nvPr>
            <p:ph type="title"/>
          </p:nvPr>
        </p:nvSpPr>
        <p:spPr/>
        <p:txBody>
          <a:bodyPr/>
          <a:lstStyle/>
          <a:p>
            <a:r>
              <a:rPr lang="en-US" b="1" u="sng" dirty="0">
                <a:solidFill>
                  <a:srgbClr val="C00000"/>
                </a:solidFill>
                <a:latin typeface="Times New Roman" panose="02020603050405020304" pitchFamily="18" charset="0"/>
                <a:cs typeface="Times New Roman" panose="02020603050405020304" pitchFamily="18" charset="0"/>
              </a:rPr>
              <a:t>Objective</a:t>
            </a:r>
            <a:r>
              <a:rPr lang="en-US" b="1" dirty="0">
                <a:solidFill>
                  <a:srgbClr val="C00000"/>
                </a:solidFill>
                <a:latin typeface="Times New Roman" panose="02020603050405020304" pitchFamily="18" charset="0"/>
                <a:cs typeface="Times New Roman" panose="02020603050405020304" pitchFamily="18" charset="0"/>
              </a:rPr>
              <a:t>:</a:t>
            </a:r>
            <a:br>
              <a:rPr lang="en-US" b="1" dirty="0">
                <a:solidFill>
                  <a:srgbClr val="C00000"/>
                </a:solidFill>
                <a:latin typeface="Times New Roman" panose="02020603050405020304" pitchFamily="18" charset="0"/>
                <a:cs typeface="Times New Roman" panose="02020603050405020304" pitchFamily="18" charset="0"/>
              </a:rPr>
            </a:br>
            <a:endParaRPr lang="en-IN" dirty="0"/>
          </a:p>
        </p:txBody>
      </p:sp>
      <p:sp>
        <p:nvSpPr>
          <p:cNvPr id="3" name="Text Placeholder 2">
            <a:extLst>
              <a:ext uri="{FF2B5EF4-FFF2-40B4-BE49-F238E27FC236}">
                <a16:creationId xmlns:a16="http://schemas.microsoft.com/office/drawing/2014/main" id="{99C5F3DE-E003-91DB-AE77-4BDCD8987DA1}"/>
              </a:ext>
            </a:extLst>
          </p:cNvPr>
          <p:cNvSpPr>
            <a:spLocks noGrp="1"/>
          </p:cNvSpPr>
          <p:nvPr>
            <p:ph type="body" idx="1"/>
          </p:nvPr>
        </p:nvSpPr>
        <p:spPr>
          <a:xfrm>
            <a:off x="838200" y="1278294"/>
            <a:ext cx="10515600" cy="4898669"/>
          </a:xfrm>
        </p:spPr>
        <p:txBody>
          <a:bodyPr>
            <a:normAutofit fontScale="92500" lnSpcReduction="20000"/>
          </a:bodyPr>
          <a:lstStyle/>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Employee Management System is developed to efficiently manage employee records, departments, roles, and payroll information.</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It helps organizations track employee details, monitor performance, and manage work assignments.</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system simulates a mini employee database with interconnected entities like employees, job departments, leaves, payroll, salary bonus, and qualification.</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Using SQL, users can extract, transform, and analyze employee data to generate actionable insights, for decision-making.</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system enables tracking of employee performance, departmental productivity, and workforce distribution. Data, gaining valuable business insights.</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project aims to optimize HR workflows, improve resource allocation, and enhance overall organizational effectiveness.</a:t>
            </a:r>
          </a:p>
          <a:p>
            <a:endParaRPr lang="en-IN" dirty="0"/>
          </a:p>
        </p:txBody>
      </p:sp>
    </p:spTree>
    <p:extLst>
      <p:ext uri="{BB962C8B-B14F-4D97-AF65-F5344CB8AC3E}">
        <p14:creationId xmlns:p14="http://schemas.microsoft.com/office/powerpoint/2010/main" val="3448990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46731-06F8-712B-FE57-DA80F4311A9C}"/>
              </a:ext>
            </a:extLst>
          </p:cNvPr>
          <p:cNvSpPr>
            <a:spLocks noGrp="1"/>
          </p:cNvSpPr>
          <p:nvPr>
            <p:ph type="title"/>
          </p:nvPr>
        </p:nvSpPr>
        <p:spPr>
          <a:xfrm>
            <a:off x="838200" y="365125"/>
            <a:ext cx="10515600" cy="2088826"/>
          </a:xfrm>
        </p:spPr>
        <p:txBody>
          <a:bodyPr>
            <a:normAutofit/>
          </a:bodyPr>
          <a:lstStyle/>
          <a:p>
            <a:r>
              <a:rPr lang="en-US" b="1" u="sng" dirty="0">
                <a:solidFill>
                  <a:srgbClr val="C00000"/>
                </a:solidFill>
                <a:latin typeface="Times New Roman" panose="02020603050405020304" pitchFamily="18" charset="0"/>
                <a:cs typeface="Times New Roman" panose="02020603050405020304" pitchFamily="18" charset="0"/>
              </a:rPr>
              <a:t>Problem Statement:</a:t>
            </a:r>
            <a:br>
              <a:rPr lang="en-US" b="1" u="sng" dirty="0">
                <a:solidFill>
                  <a:srgbClr val="C00000"/>
                </a:solidFill>
                <a:latin typeface="Times New Roman" panose="02020603050405020304" pitchFamily="18" charset="0"/>
                <a:cs typeface="Times New Roman" panose="02020603050405020304" pitchFamily="18" charset="0"/>
              </a:rPr>
            </a:br>
            <a:br>
              <a:rPr lang="en-US" sz="4800" b="1" u="sng" dirty="0">
                <a:solidFill>
                  <a:srgbClr val="C00000"/>
                </a:solidFill>
                <a:latin typeface="Times New Roman" panose="02020603050405020304" pitchFamily="18" charset="0"/>
                <a:cs typeface="Times New Roman" panose="02020603050405020304" pitchFamily="18" charset="0"/>
              </a:rPr>
            </a:br>
            <a:endParaRPr lang="en-IN" u="sng" dirty="0"/>
          </a:p>
        </p:txBody>
      </p:sp>
      <p:sp>
        <p:nvSpPr>
          <p:cNvPr id="3" name="Text Placeholder 2">
            <a:extLst>
              <a:ext uri="{FF2B5EF4-FFF2-40B4-BE49-F238E27FC236}">
                <a16:creationId xmlns:a16="http://schemas.microsoft.com/office/drawing/2014/main" id="{345422C3-EA8B-F434-5E3F-0DD80CD13280}"/>
              </a:ext>
            </a:extLst>
          </p:cNvPr>
          <p:cNvSpPr>
            <a:spLocks noGrp="1"/>
          </p:cNvSpPr>
          <p:nvPr>
            <p:ph type="body" idx="1"/>
          </p:nvPr>
        </p:nvSpPr>
        <p:spPr>
          <a:xfrm>
            <a:off x="838200" y="1278294"/>
            <a:ext cx="10515600" cy="4898669"/>
          </a:xfrm>
        </p:spPr>
        <p:txBody>
          <a:bodyPr>
            <a:normAutofit fontScale="77500" lnSpcReduction="20000"/>
          </a:bodyPr>
          <a:lstStyle/>
          <a:p>
            <a:pPr algn="just">
              <a:spcBef>
                <a:spcPts val="1200"/>
              </a:spcBef>
              <a:spcAft>
                <a:spcPts val="1200"/>
              </a:spcAft>
              <a:buFont typeface="Wingdings" panose="05000000000000000000" pitchFamily="2" charset="2"/>
              <a:buChar char="q"/>
            </a:pPr>
            <a:r>
              <a:rPr lang="en-US" dirty="0">
                <a:solidFill>
                  <a:srgbClr val="000000"/>
                </a:solidFill>
                <a:latin typeface="Times New Roman" panose="02020603050405020304" pitchFamily="18" charset="0"/>
                <a:cs typeface="Times New Roman" panose="02020603050405020304" pitchFamily="18" charset="0"/>
              </a:rPr>
              <a:t>The objective of this project is to design and implement an </a:t>
            </a:r>
            <a:r>
              <a:rPr lang="en-US" b="1" dirty="0">
                <a:solidFill>
                  <a:srgbClr val="000000"/>
                </a:solidFill>
                <a:latin typeface="Times New Roman" panose="02020603050405020304" pitchFamily="18" charset="0"/>
                <a:cs typeface="Times New Roman" panose="02020603050405020304" pitchFamily="18" charset="0"/>
              </a:rPr>
              <a:t>Employee Management System</a:t>
            </a:r>
            <a:r>
              <a:rPr lang="en-US" dirty="0">
                <a:solidFill>
                  <a:srgbClr val="000000"/>
                </a:solidFill>
                <a:latin typeface="Times New Roman" panose="02020603050405020304" pitchFamily="18" charset="0"/>
                <a:cs typeface="Times New Roman" panose="02020603050405020304" pitchFamily="18" charset="0"/>
              </a:rPr>
              <a:t> that efficiently stores and manages employee-related data within an organization. </a:t>
            </a:r>
          </a:p>
          <a:p>
            <a:pPr algn="just">
              <a:spcBef>
                <a:spcPts val="1200"/>
              </a:spcBef>
              <a:spcAft>
                <a:spcPts val="1200"/>
              </a:spcAft>
              <a:buFont typeface="Wingdings" panose="05000000000000000000" pitchFamily="2" charset="2"/>
              <a:buChar char="q"/>
            </a:pPr>
            <a:r>
              <a:rPr lang="en-US" dirty="0">
                <a:solidFill>
                  <a:srgbClr val="000000"/>
                </a:solidFill>
                <a:latin typeface="Times New Roman" panose="02020603050405020304" pitchFamily="18" charset="0"/>
                <a:cs typeface="Times New Roman" panose="02020603050405020304" pitchFamily="18" charset="0"/>
              </a:rPr>
              <a:t>The system needs to track various aspects of employee information, including personal details, job roles, salary structures, qualifications, leave records, and payroll data. </a:t>
            </a:r>
          </a:p>
          <a:p>
            <a:pPr algn="just">
              <a:spcBef>
                <a:spcPts val="1200"/>
              </a:spcBef>
              <a:spcAft>
                <a:spcPts val="1200"/>
              </a:spcAft>
              <a:buFont typeface="Wingdings" panose="05000000000000000000" pitchFamily="2" charset="2"/>
              <a:buChar char="q"/>
            </a:pPr>
            <a:r>
              <a:rPr lang="en-US" dirty="0">
                <a:solidFill>
                  <a:srgbClr val="000000"/>
                </a:solidFill>
                <a:latin typeface="Times New Roman" panose="02020603050405020304" pitchFamily="18" charset="0"/>
                <a:cs typeface="Times New Roman" panose="02020603050405020304" pitchFamily="18" charset="0"/>
              </a:rPr>
              <a:t>The system should ensure the integrity and consistency of data by using relational tables with appropriate foreign keys and cascading actions.</a:t>
            </a:r>
            <a:endParaRPr lang="en-US" dirty="0">
              <a:latin typeface="Times New Roman" panose="02020603050405020304" pitchFamily="18" charset="0"/>
              <a:cs typeface="Times New Roman" panose="02020603050405020304" pitchFamily="18" charset="0"/>
            </a:endParaRPr>
          </a:p>
          <a:p>
            <a:pPr algn="just">
              <a:spcBef>
                <a:spcPts val="1200"/>
              </a:spcBef>
              <a:spcAft>
                <a:spcPts val="1200"/>
              </a:spcAft>
              <a:buFont typeface="Wingdings" panose="05000000000000000000" pitchFamily="2" charset="2"/>
              <a:buChar char="q"/>
            </a:pPr>
            <a:r>
              <a:rPr lang="en-US" dirty="0">
                <a:solidFill>
                  <a:srgbClr val="000000"/>
                </a:solidFill>
                <a:latin typeface="Times New Roman" panose="02020603050405020304" pitchFamily="18" charset="0"/>
                <a:cs typeface="Times New Roman" panose="02020603050405020304" pitchFamily="18" charset="0"/>
              </a:rPr>
              <a:t>The system should allow for easy management and querying of employee data, providing insights such as payroll calculation, leave tracking, and department-specific job roles. </a:t>
            </a:r>
          </a:p>
          <a:p>
            <a:pPr algn="just">
              <a:spcBef>
                <a:spcPts val="1200"/>
              </a:spcBef>
              <a:spcAft>
                <a:spcPts val="1200"/>
              </a:spcAft>
              <a:buFont typeface="Wingdings" panose="05000000000000000000" pitchFamily="2" charset="2"/>
              <a:buChar char="q"/>
            </a:pPr>
            <a:r>
              <a:rPr lang="en-US" dirty="0">
                <a:solidFill>
                  <a:srgbClr val="000000"/>
                </a:solidFill>
                <a:latin typeface="Times New Roman" panose="02020603050405020304" pitchFamily="18" charset="0"/>
                <a:cs typeface="Times New Roman" panose="02020603050405020304" pitchFamily="18" charset="0"/>
              </a:rPr>
              <a:t>The goal is to streamline HR operations, ensuring that all relevant employee data is accessible and accurately updated across different modules.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54768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81EC1-AE48-E4E6-57E2-223906B57924}"/>
              </a:ext>
            </a:extLst>
          </p:cNvPr>
          <p:cNvSpPr>
            <a:spLocks noGrp="1"/>
          </p:cNvSpPr>
          <p:nvPr>
            <p:ph type="title"/>
          </p:nvPr>
        </p:nvSpPr>
        <p:spPr>
          <a:xfrm>
            <a:off x="839788" y="457200"/>
            <a:ext cx="3932237" cy="1017037"/>
          </a:xfrm>
        </p:spPr>
        <p:txBody>
          <a:bodyPr>
            <a:normAutofit/>
          </a:bodyPr>
          <a:lstStyle/>
          <a:p>
            <a:r>
              <a:rPr lang="en-US" b="1" u="sng" dirty="0">
                <a:solidFill>
                  <a:srgbClr val="C00000"/>
                </a:solidFill>
                <a:latin typeface="Times New Roman" panose="02020603050405020304" pitchFamily="18" charset="0"/>
                <a:cs typeface="Times New Roman" panose="02020603050405020304" pitchFamily="18" charset="0"/>
              </a:rPr>
              <a:t>ER Diagram : </a:t>
            </a:r>
            <a:endParaRPr lang="en-IN" u="sng" dirty="0"/>
          </a:p>
        </p:txBody>
      </p:sp>
      <p:pic>
        <p:nvPicPr>
          <p:cNvPr id="7" name="Picture Placeholder 6">
            <a:extLst>
              <a:ext uri="{FF2B5EF4-FFF2-40B4-BE49-F238E27FC236}">
                <a16:creationId xmlns:a16="http://schemas.microsoft.com/office/drawing/2014/main" id="{89827229-E5B6-48CB-A970-61F828F85030}"/>
              </a:ext>
            </a:extLst>
          </p:cNvPr>
          <p:cNvPicPr>
            <a:picLocks noGrp="1" noChangeAspect="1"/>
          </p:cNvPicPr>
          <p:nvPr>
            <p:ph type="pic" idx="2"/>
          </p:nvPr>
        </p:nvPicPr>
        <p:blipFill>
          <a:blip r:embed="rId2"/>
          <a:srcRect l="12695" r="12695"/>
          <a:stretch>
            <a:fillRect/>
          </a:stretch>
        </p:blipFill>
        <p:spPr>
          <a:xfrm>
            <a:off x="5183188" y="987425"/>
            <a:ext cx="6169024" cy="4718881"/>
          </a:xfrm>
        </p:spPr>
      </p:pic>
      <p:sp>
        <p:nvSpPr>
          <p:cNvPr id="4" name="Text Placeholder 3">
            <a:extLst>
              <a:ext uri="{FF2B5EF4-FFF2-40B4-BE49-F238E27FC236}">
                <a16:creationId xmlns:a16="http://schemas.microsoft.com/office/drawing/2014/main" id="{76415E44-89FB-0493-219F-439D368E1219}"/>
              </a:ext>
            </a:extLst>
          </p:cNvPr>
          <p:cNvSpPr>
            <a:spLocks noGrp="1"/>
          </p:cNvSpPr>
          <p:nvPr>
            <p:ph type="body" idx="1"/>
          </p:nvPr>
        </p:nvSpPr>
        <p:spPr>
          <a:xfrm>
            <a:off x="839788" y="1539551"/>
            <a:ext cx="3932237" cy="4329437"/>
          </a:xfrm>
        </p:spPr>
        <p:txBody>
          <a:bodyPr>
            <a:normAutofit fontScale="92500" lnSpcReduction="20000"/>
          </a:bodyPr>
          <a:lstStyle/>
          <a:p>
            <a:pPr marL="571500" indent="-342900" algn="just">
              <a:buFont typeface="Wingdings" panose="05000000000000000000" pitchFamily="2" charset="2"/>
              <a:buChar char="q"/>
            </a:pPr>
            <a:r>
              <a:rPr lang="en-US" sz="2000" dirty="0">
                <a:latin typeface="inherit"/>
              </a:rPr>
              <a:t>The diagram models an HR management system. </a:t>
            </a:r>
          </a:p>
          <a:p>
            <a:pPr marL="571500" indent="-342900" algn="just">
              <a:buFont typeface="Wingdings" panose="05000000000000000000" pitchFamily="2" charset="2"/>
              <a:buChar char="q"/>
            </a:pPr>
            <a:r>
              <a:rPr lang="en-US" sz="2000" dirty="0">
                <a:latin typeface="inherit"/>
              </a:rPr>
              <a:t>employee stores staff details, linking to job department, qualification, and leaves.</a:t>
            </a:r>
          </a:p>
          <a:p>
            <a:pPr marL="571500" indent="-342900" algn="just">
              <a:buFont typeface="Wingdings" panose="05000000000000000000" pitchFamily="2" charset="2"/>
              <a:buChar char="q"/>
            </a:pPr>
            <a:r>
              <a:rPr lang="en-US" sz="2000" dirty="0">
                <a:latin typeface="inherit"/>
              </a:rPr>
              <a:t> job department defines roles and departments. </a:t>
            </a:r>
          </a:p>
          <a:p>
            <a:pPr marL="571500" indent="-342900" algn="just">
              <a:buFont typeface="Wingdings" panose="05000000000000000000" pitchFamily="2" charset="2"/>
              <a:buChar char="q"/>
            </a:pPr>
            <a:r>
              <a:rPr lang="en-US" sz="2000" dirty="0">
                <a:latin typeface="inherit"/>
              </a:rPr>
              <a:t>qualification lists employee qualifications.</a:t>
            </a:r>
          </a:p>
          <a:p>
            <a:pPr marL="571500" indent="-342900" algn="just">
              <a:buFont typeface="Wingdings" panose="05000000000000000000" pitchFamily="2" charset="2"/>
              <a:buChar char="q"/>
            </a:pPr>
            <a:r>
              <a:rPr lang="en-US" sz="2000" dirty="0">
                <a:latin typeface="inherit"/>
              </a:rPr>
              <a:t> leaves records employee leave details. </a:t>
            </a:r>
          </a:p>
          <a:p>
            <a:pPr marL="571500" indent="-342900" algn="just">
              <a:buFont typeface="Wingdings" panose="05000000000000000000" pitchFamily="2" charset="2"/>
              <a:buChar char="q"/>
            </a:pPr>
            <a:r>
              <a:rPr lang="en-US" sz="2000" dirty="0">
                <a:latin typeface="inherit"/>
              </a:rPr>
              <a:t>Salary bonus specifies pay and bonuses for each job. </a:t>
            </a:r>
          </a:p>
          <a:p>
            <a:pPr marL="571500" indent="-342900" algn="just">
              <a:buFont typeface="Wingdings" panose="05000000000000000000" pitchFamily="2" charset="2"/>
              <a:buChar char="q"/>
            </a:pPr>
            <a:r>
              <a:rPr lang="en-US" sz="2000" dirty="0">
                <a:latin typeface="inherit"/>
              </a:rPr>
              <a:t>payroll calculates pay, combining job, salary, and leave data.</a:t>
            </a:r>
          </a:p>
          <a:p>
            <a:endParaRPr lang="en-IN" dirty="0"/>
          </a:p>
        </p:txBody>
      </p:sp>
    </p:spTree>
    <p:extLst>
      <p:ext uri="{BB962C8B-B14F-4D97-AF65-F5344CB8AC3E}">
        <p14:creationId xmlns:p14="http://schemas.microsoft.com/office/powerpoint/2010/main" val="1116921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376" y="609599"/>
            <a:ext cx="8480625" cy="1819387"/>
          </a:xfrm>
        </p:spPr>
        <p:txBody>
          <a:bodyPr>
            <a:normAutofit/>
          </a:bodyPr>
          <a:lstStyle/>
          <a:p>
            <a:r>
              <a:rPr lang="en-US" sz="2400" b="1" dirty="0">
                <a:solidFill>
                  <a:srgbClr val="00B0F0"/>
                </a:solidFill>
                <a:latin typeface="Times New Roman" panose="02020603050405020304" pitchFamily="18" charset="0"/>
                <a:cs typeface="Times New Roman" panose="02020603050405020304" pitchFamily="18" charset="0"/>
              </a:rPr>
              <a:t>Key Analysis:</a:t>
            </a:r>
            <a:br>
              <a:rPr lang="en-US" sz="2400" b="1" dirty="0">
                <a:solidFill>
                  <a:srgbClr val="00B0F0"/>
                </a:solidFill>
                <a:latin typeface="Times New Roman" panose="02020603050405020304" pitchFamily="18" charset="0"/>
                <a:cs typeface="Times New Roman" panose="02020603050405020304" pitchFamily="18" charset="0"/>
              </a:rPr>
            </a:br>
            <a:br>
              <a:rPr lang="en-US" sz="2400" b="1" dirty="0">
                <a:solidFill>
                  <a:srgbClr val="00B0F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1. Employee insights</a:t>
            </a:r>
          </a:p>
        </p:txBody>
      </p:sp>
      <p:sp>
        <p:nvSpPr>
          <p:cNvPr id="3" name="Content Placeholder 2"/>
          <p:cNvSpPr>
            <a:spLocks noGrp="1"/>
          </p:cNvSpPr>
          <p:nvPr>
            <p:ph idx="1"/>
          </p:nvPr>
        </p:nvSpPr>
        <p:spPr>
          <a:xfrm>
            <a:off x="892487" y="1694329"/>
            <a:ext cx="8596668" cy="4652683"/>
          </a:xfrm>
        </p:spPr>
        <p:txBody>
          <a:bodyPr>
            <a:normAutofit fontScale="92500" lnSpcReduction="10000"/>
          </a:bodyPr>
          <a:lstStyle/>
          <a:p>
            <a:pPr marL="0" indent="0">
              <a:buNone/>
            </a:pPr>
            <a:endParaRPr lang="en-US" sz="2000" b="1" i="0" u="none" strike="noStrike" dirty="0">
              <a:solidFill>
                <a:srgbClr val="C00000"/>
              </a:solidFill>
              <a:effectLst/>
              <a:latin typeface="Times New Roman" panose="02020603050405020304" pitchFamily="18" charset="0"/>
              <a:cs typeface="Times New Roman" panose="02020603050405020304" pitchFamily="18" charset="0"/>
            </a:endParaRPr>
          </a:p>
          <a:p>
            <a:pPr marL="0" indent="0">
              <a:buNone/>
            </a:pPr>
            <a:r>
              <a:rPr lang="en-US" sz="2000" b="1" i="0" u="none" strike="noStrike" dirty="0">
                <a:solidFill>
                  <a:srgbClr val="C00000"/>
                </a:solidFill>
                <a:effectLst/>
                <a:latin typeface="Times New Roman" panose="02020603050405020304" pitchFamily="18" charset="0"/>
                <a:cs typeface="Times New Roman" panose="02020603050405020304" pitchFamily="18" charset="0"/>
              </a:rPr>
              <a:t>How many unique employees are currently in the system</a:t>
            </a:r>
            <a:r>
              <a:rPr lang="en-US" sz="2000" dirty="0">
                <a:solidFill>
                  <a:srgbClr val="C00000"/>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
            </a:pPr>
            <a:endParaRPr lang="en-US" dirty="0">
              <a:solidFill>
                <a:srgbClr val="000000"/>
              </a:solidFill>
              <a:latin typeface="Arial" panose="020B0604020202020204" pitchFamily="34" charset="0"/>
              <a:cs typeface="Times New Roman" panose="02020603050405020304" pitchFamily="18" charset="0"/>
            </a:endParaRP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0" i="0" dirty="0">
                <a:effectLst/>
                <a:latin typeface="gg sans"/>
              </a:rPr>
              <a:t>The query counts the number of unique employees in the system using their Emp_ID. The result shows there are 60 unique employees in the database.</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2E56446-7164-BFEC-D545-E84293117453}"/>
              </a:ext>
            </a:extLst>
          </p:cNvPr>
          <p:cNvPicPr>
            <a:picLocks noChangeAspect="1"/>
          </p:cNvPicPr>
          <p:nvPr/>
        </p:nvPicPr>
        <p:blipFill>
          <a:blip r:embed="rId2"/>
          <a:stretch>
            <a:fillRect/>
          </a:stretch>
        </p:blipFill>
        <p:spPr>
          <a:xfrm>
            <a:off x="892487" y="2602443"/>
            <a:ext cx="6390327" cy="24744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254" y="217397"/>
            <a:ext cx="6988586" cy="1163533"/>
          </a:xfrm>
        </p:spPr>
        <p:txBody>
          <a:bodyPr>
            <a:noAutofit/>
          </a:bodyPr>
          <a:lstStyle/>
          <a:p>
            <a:r>
              <a:rPr lang="en-US" sz="2000" b="1" dirty="0">
                <a:solidFill>
                  <a:srgbClr val="FF0000"/>
                </a:solidFill>
              </a:rPr>
              <a:t>Which departments have the highest number of employees?</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0" y="-945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flipH="1">
            <a:off x="-1613647" y="43934"/>
            <a:ext cx="1613647" cy="910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p:cNvSpPr txBox="1"/>
          <p:nvPr/>
        </p:nvSpPr>
        <p:spPr>
          <a:xfrm>
            <a:off x="875254" y="5162809"/>
            <a:ext cx="8175513" cy="1323439"/>
          </a:xfrm>
          <a:prstGeom prst="rect">
            <a:avLst/>
          </a:prstGeom>
          <a:noFill/>
        </p:spPr>
        <p:txBody>
          <a:bodyPr wrap="square" rtlCol="0">
            <a:spAutoFit/>
          </a:bodyPr>
          <a:lstStyle/>
          <a:p>
            <a:r>
              <a:rPr lang="en-US" sz="1200" dirty="0"/>
              <a:t>This query identifies how many employees work in each department and displays the departments ranked from highest to lowest employee count </a:t>
            </a:r>
            <a:r>
              <a:rPr lang="en-US" sz="1200" b="1" dirty="0"/>
              <a:t>— helping visualize workforce distribution across departments.</a:t>
            </a:r>
          </a:p>
          <a:p>
            <a:r>
              <a:rPr lang="en-US" b="1" dirty="0"/>
              <a:t>Key insights:</a:t>
            </a:r>
          </a:p>
          <a:p>
            <a:r>
              <a:rPr lang="en-US" b="1" dirty="0"/>
              <a:t>IT</a:t>
            </a:r>
            <a:r>
              <a:rPr lang="en-US" dirty="0"/>
              <a:t> and </a:t>
            </a:r>
            <a:r>
              <a:rPr lang="en-US" b="1" dirty="0"/>
              <a:t>Finance</a:t>
            </a:r>
            <a:r>
              <a:rPr lang="en-US" dirty="0"/>
              <a:t> have the </a:t>
            </a:r>
            <a:r>
              <a:rPr lang="en-US" b="1" dirty="0"/>
              <a:t>highest employee count</a:t>
            </a:r>
            <a:r>
              <a:rPr lang="en-US" dirty="0"/>
              <a:t> → </a:t>
            </a:r>
            <a:r>
              <a:rPr lang="en-US" b="1" dirty="0"/>
              <a:t>9 employees each</a:t>
            </a:r>
            <a:endParaRPr lang="en-US" dirty="0"/>
          </a:p>
          <a:p>
            <a:r>
              <a:rPr lang="en-US" b="1" dirty="0"/>
              <a:t>Legal</a:t>
            </a:r>
            <a:r>
              <a:rPr lang="en-US" dirty="0"/>
              <a:t> department has the fewest employees → </a:t>
            </a:r>
            <a:r>
              <a:rPr lang="en-US" b="1" dirty="0"/>
              <a:t>5 employees</a:t>
            </a:r>
            <a:endParaRPr lang="en-US" dirty="0"/>
          </a:p>
          <a:p>
            <a:endParaRPr lang="en-US" dirty="0"/>
          </a:p>
        </p:txBody>
      </p:sp>
      <p:sp>
        <p:nvSpPr>
          <p:cNvPr id="8" name="Text Placeholder 7">
            <a:extLst>
              <a:ext uri="{FF2B5EF4-FFF2-40B4-BE49-F238E27FC236}">
                <a16:creationId xmlns:a16="http://schemas.microsoft.com/office/drawing/2014/main" id="{B1BD1481-1863-BAD2-95D7-843D2271A777}"/>
              </a:ext>
            </a:extLst>
          </p:cNvPr>
          <p:cNvSpPr>
            <a:spLocks noGrp="1"/>
          </p:cNvSpPr>
          <p:nvPr>
            <p:ph type="body" idx="1"/>
          </p:nvPr>
        </p:nvSpPr>
        <p:spPr>
          <a:xfrm>
            <a:off x="727788" y="954742"/>
            <a:ext cx="10626012" cy="5222221"/>
          </a:xfrm>
        </p:spPr>
        <p:txBody>
          <a:bodyPr/>
          <a:lstStyle/>
          <a:p>
            <a:endParaRPr lang="en-US" dirty="0"/>
          </a:p>
          <a:p>
            <a:endParaRPr lang="en-IN" dirty="0"/>
          </a:p>
          <a:p>
            <a:endParaRPr lang="en-IN" dirty="0"/>
          </a:p>
        </p:txBody>
      </p:sp>
      <p:pic>
        <p:nvPicPr>
          <p:cNvPr id="10" name="Picture 9">
            <a:extLst>
              <a:ext uri="{FF2B5EF4-FFF2-40B4-BE49-F238E27FC236}">
                <a16:creationId xmlns:a16="http://schemas.microsoft.com/office/drawing/2014/main" id="{49A77F86-9C22-EB30-61A5-0955AA3818EF}"/>
              </a:ext>
            </a:extLst>
          </p:cNvPr>
          <p:cNvPicPr>
            <a:picLocks noChangeAspect="1"/>
          </p:cNvPicPr>
          <p:nvPr/>
        </p:nvPicPr>
        <p:blipFill>
          <a:blip r:embed="rId2"/>
          <a:stretch>
            <a:fillRect/>
          </a:stretch>
        </p:blipFill>
        <p:spPr>
          <a:xfrm>
            <a:off x="838200" y="1825625"/>
            <a:ext cx="9108233" cy="3246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3322" y="487249"/>
            <a:ext cx="4674198" cy="753721"/>
          </a:xfrm>
        </p:spPr>
        <p:txBody>
          <a:bodyPr>
            <a:noAutofit/>
          </a:bodyPr>
          <a:lstStyle/>
          <a:p>
            <a:r>
              <a:rPr lang="en-US" sz="2000" b="1" i="0" u="none" strike="noStrike" dirty="0">
                <a:solidFill>
                  <a:srgbClr val="C00000"/>
                </a:solidFill>
                <a:effectLst/>
                <a:latin typeface="Times New Roman" panose="02020603050405020304" pitchFamily="18" charset="0"/>
                <a:cs typeface="Times New Roman" panose="02020603050405020304" pitchFamily="18" charset="0"/>
              </a:rPr>
              <a:t>What is the average salary per department?</a:t>
            </a:r>
            <a:br>
              <a:rPr lang="en-US" sz="2000" b="1" i="0" u="none" strike="noStrike" dirty="0">
                <a:solidFill>
                  <a:srgbClr val="C00000"/>
                </a:solidFill>
                <a:effectLst/>
                <a:latin typeface="Times New Roman" panose="02020603050405020304" pitchFamily="18" charset="0"/>
                <a:cs typeface="Times New Roman" panose="02020603050405020304" pitchFamily="18" charset="0"/>
              </a:rPr>
            </a:br>
            <a:br>
              <a:rPr lang="en-US" sz="2000" b="1" dirty="0">
                <a:solidFill>
                  <a:srgbClr val="C00000"/>
                </a:solidFill>
                <a:latin typeface="Times New Roman" panose="02020603050405020304" pitchFamily="18" charset="0"/>
                <a:cs typeface="Times New Roman" panose="02020603050405020304" pitchFamily="18" charset="0"/>
              </a:rPr>
            </a:br>
            <a:br>
              <a:rPr lang="en-US" sz="2000" b="1" i="0" u="none" strike="noStrike" dirty="0">
                <a:solidFill>
                  <a:srgbClr val="C00000"/>
                </a:solidFill>
                <a:effectLst/>
                <a:latin typeface="Times New Roman" panose="02020603050405020304" pitchFamily="18" charset="0"/>
                <a:cs typeface="Times New Roman" panose="02020603050405020304" pitchFamily="18" charset="0"/>
              </a:rPr>
            </a:br>
            <a:endParaRPr lang="en-US" sz="2000" b="1" dirty="0">
              <a:solidFill>
                <a:srgbClr val="C0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883322" y="5441839"/>
            <a:ext cx="8849360" cy="923330"/>
          </a:xfrm>
          <a:prstGeom prst="rect">
            <a:avLst/>
          </a:prstGeom>
          <a:noFill/>
        </p:spPr>
        <p:txBody>
          <a:bodyPr wrap="square" rtlCol="0">
            <a:spAutoFit/>
          </a:bodyPr>
          <a:lstStyle/>
          <a:p>
            <a:r>
              <a:rPr lang="en-US" dirty="0"/>
              <a:t>This query calculates and displays the average salary for each department, ranking them in descending order — showing that the </a:t>
            </a:r>
            <a:r>
              <a:rPr lang="en-US" b="1" dirty="0"/>
              <a:t>Legal department</a:t>
            </a:r>
            <a:r>
              <a:rPr lang="en-US" dirty="0"/>
              <a:t> has the highest average salary, followed by </a:t>
            </a:r>
            <a:r>
              <a:rPr lang="en-US" b="1" dirty="0"/>
              <a:t>Engineering</a:t>
            </a:r>
            <a:r>
              <a:rPr lang="en-US" dirty="0"/>
              <a:t> and </a:t>
            </a:r>
            <a:r>
              <a:rPr lang="en-US" b="1" dirty="0"/>
              <a:t>Sales</a:t>
            </a:r>
            <a:r>
              <a:rPr lang="en-US" dirty="0"/>
              <a:t>.</a:t>
            </a:r>
          </a:p>
        </p:txBody>
      </p:sp>
      <p:sp>
        <p:nvSpPr>
          <p:cNvPr id="5" name="Text Placeholder 4">
            <a:extLst>
              <a:ext uri="{FF2B5EF4-FFF2-40B4-BE49-F238E27FC236}">
                <a16:creationId xmlns:a16="http://schemas.microsoft.com/office/drawing/2014/main" id="{62613441-9A07-2272-C9AE-69D6F1645980}"/>
              </a:ext>
            </a:extLst>
          </p:cNvPr>
          <p:cNvSpPr>
            <a:spLocks noGrp="1"/>
          </p:cNvSpPr>
          <p:nvPr>
            <p:ph type="body" idx="1"/>
          </p:nvPr>
        </p:nvSpPr>
        <p:spPr>
          <a:xfrm>
            <a:off x="979714" y="864207"/>
            <a:ext cx="10470478" cy="5281224"/>
          </a:xfrm>
        </p:spPr>
        <p:txBody>
          <a:bodyPr/>
          <a:lstStyle/>
          <a:p>
            <a:endParaRPr lang="en-IN" dirty="0"/>
          </a:p>
        </p:txBody>
      </p:sp>
      <p:pic>
        <p:nvPicPr>
          <p:cNvPr id="8" name="Picture 7">
            <a:extLst>
              <a:ext uri="{FF2B5EF4-FFF2-40B4-BE49-F238E27FC236}">
                <a16:creationId xmlns:a16="http://schemas.microsoft.com/office/drawing/2014/main" id="{62831E81-175B-DFEA-C5C7-2D0F6CAF065C}"/>
              </a:ext>
            </a:extLst>
          </p:cNvPr>
          <p:cNvPicPr>
            <a:picLocks noChangeAspect="1"/>
          </p:cNvPicPr>
          <p:nvPr/>
        </p:nvPicPr>
        <p:blipFill>
          <a:blip r:embed="rId2"/>
          <a:stretch>
            <a:fillRect/>
          </a:stretch>
        </p:blipFill>
        <p:spPr>
          <a:xfrm>
            <a:off x="979714" y="983512"/>
            <a:ext cx="10067731" cy="42312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796" y="182880"/>
            <a:ext cx="4642884" cy="880810"/>
          </a:xfrm>
        </p:spPr>
        <p:txBody>
          <a:bodyPr>
            <a:noAutofit/>
          </a:bodyPr>
          <a:lstStyle/>
          <a:p>
            <a:r>
              <a:rPr lang="en-US" sz="2000" b="1" i="0" u="none" strike="noStrike" dirty="0">
                <a:solidFill>
                  <a:srgbClr val="C00000"/>
                </a:solidFill>
                <a:effectLst/>
                <a:latin typeface="Times New Roman" panose="02020603050405020304" pitchFamily="18" charset="0"/>
                <a:cs typeface="Times New Roman" panose="02020603050405020304" pitchFamily="18" charset="0"/>
              </a:rPr>
              <a:t>Who are the top 5 highest-paid employees?</a:t>
            </a:r>
            <a:br>
              <a:rPr lang="en-US" sz="2000" b="1" i="0" u="none" strike="noStrike" dirty="0">
                <a:solidFill>
                  <a:srgbClr val="C00000"/>
                </a:solidFill>
                <a:effectLst/>
                <a:latin typeface="Times New Roman" panose="02020603050405020304" pitchFamily="18" charset="0"/>
                <a:cs typeface="Times New Roman" panose="02020603050405020304" pitchFamily="18" charset="0"/>
              </a:rPr>
            </a:br>
            <a:br>
              <a:rPr lang="en-US" sz="2000" b="1" i="0" u="none" strike="noStrike" dirty="0">
                <a:solidFill>
                  <a:srgbClr val="000000"/>
                </a:solidFill>
                <a:effectLst/>
                <a:latin typeface="Times New Roman" panose="02020603050405020304" pitchFamily="18" charset="0"/>
                <a:cs typeface="Times New Roman" panose="02020603050405020304" pitchFamily="18" charset="0"/>
              </a:rPr>
            </a:br>
            <a:endParaRPr lang="en-US" sz="2000" b="1" dirty="0"/>
          </a:p>
        </p:txBody>
      </p:sp>
      <p:sp>
        <p:nvSpPr>
          <p:cNvPr id="3" name="TextBox 2"/>
          <p:cNvSpPr txBox="1"/>
          <p:nvPr/>
        </p:nvSpPr>
        <p:spPr>
          <a:xfrm>
            <a:off x="670796" y="4895137"/>
            <a:ext cx="9153924" cy="646331"/>
          </a:xfrm>
          <a:prstGeom prst="rect">
            <a:avLst/>
          </a:prstGeom>
          <a:noFill/>
        </p:spPr>
        <p:txBody>
          <a:bodyPr wrap="square" rtlCol="0">
            <a:spAutoFit/>
          </a:bodyPr>
          <a:lstStyle/>
          <a:p>
            <a:r>
              <a:rPr lang="en-US" dirty="0"/>
              <a:t>This query retrieves the </a:t>
            </a:r>
            <a:r>
              <a:rPr lang="en-US" b="1" dirty="0"/>
              <a:t>top 5 highest-paid employees</a:t>
            </a:r>
            <a:r>
              <a:rPr lang="en-US" dirty="0"/>
              <a:t>, displaying their ID, full name, salary, and bonus — with </a:t>
            </a:r>
            <a:r>
              <a:rPr lang="en-US" b="1" dirty="0"/>
              <a:t>Ingrid Adams</a:t>
            </a:r>
            <a:r>
              <a:rPr lang="en-US" dirty="0"/>
              <a:t> earning the highest salary among them.</a:t>
            </a:r>
          </a:p>
        </p:txBody>
      </p:sp>
      <p:sp>
        <p:nvSpPr>
          <p:cNvPr id="5" name="Text Placeholder 4">
            <a:extLst>
              <a:ext uri="{FF2B5EF4-FFF2-40B4-BE49-F238E27FC236}">
                <a16:creationId xmlns:a16="http://schemas.microsoft.com/office/drawing/2014/main" id="{97AE8C72-AE6E-6A7B-51F4-A19609756E46}"/>
              </a:ext>
            </a:extLst>
          </p:cNvPr>
          <p:cNvSpPr>
            <a:spLocks noGrp="1"/>
          </p:cNvSpPr>
          <p:nvPr>
            <p:ph type="body" idx="1"/>
          </p:nvPr>
        </p:nvSpPr>
        <p:spPr>
          <a:xfrm>
            <a:off x="670796" y="690880"/>
            <a:ext cx="10683004" cy="5486083"/>
          </a:xfrm>
        </p:spPr>
        <p:txBody>
          <a:bodyPr/>
          <a:lstStyle/>
          <a:p>
            <a:pPr marL="114300" indent="0">
              <a:buNone/>
            </a:pPr>
            <a:endParaRPr lang="en-IN" dirty="0"/>
          </a:p>
        </p:txBody>
      </p:sp>
      <p:pic>
        <p:nvPicPr>
          <p:cNvPr id="9" name="Picture 8">
            <a:extLst>
              <a:ext uri="{FF2B5EF4-FFF2-40B4-BE49-F238E27FC236}">
                <a16:creationId xmlns:a16="http://schemas.microsoft.com/office/drawing/2014/main" id="{3A3C1E23-39BA-98A8-2902-A86F4BA4286C}"/>
              </a:ext>
            </a:extLst>
          </p:cNvPr>
          <p:cNvPicPr>
            <a:picLocks noChangeAspect="1"/>
          </p:cNvPicPr>
          <p:nvPr/>
        </p:nvPicPr>
        <p:blipFill>
          <a:blip r:embed="rId2"/>
          <a:stretch>
            <a:fillRect/>
          </a:stretch>
        </p:blipFill>
        <p:spPr>
          <a:xfrm>
            <a:off x="670796" y="690879"/>
            <a:ext cx="10683004" cy="42042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7155" y="173019"/>
            <a:ext cx="5937325" cy="1338540"/>
          </a:xfrm>
        </p:spPr>
        <p:txBody>
          <a:bodyPr>
            <a:noAutofit/>
          </a:bodyPr>
          <a:lstStyle/>
          <a:p>
            <a:r>
              <a:rPr lang="en-US" sz="2000" b="1" i="0" dirty="0">
                <a:solidFill>
                  <a:srgbClr val="C00000"/>
                </a:solidFill>
                <a:effectLst/>
                <a:latin typeface="Times New Roman" panose="02020603050405020304" pitchFamily="18" charset="0"/>
                <a:cs typeface="Times New Roman" panose="02020603050405020304" pitchFamily="18" charset="0"/>
              </a:rPr>
              <a:t>What is the total salary expenditure across the company?</a:t>
            </a:r>
            <a:br>
              <a:rPr lang="en-US" sz="2000" b="1" i="0" dirty="0">
                <a:solidFill>
                  <a:srgbClr val="C00000"/>
                </a:solidFill>
                <a:effectLst/>
                <a:latin typeface="Times New Roman" panose="02020603050405020304" pitchFamily="18" charset="0"/>
                <a:cs typeface="Times New Roman" panose="02020603050405020304" pitchFamily="18" charset="0"/>
              </a:rPr>
            </a:br>
            <a:endParaRPr lang="en-US" sz="2000" b="1" dirty="0">
              <a:solidFill>
                <a:srgbClr val="C0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905068" y="4256004"/>
            <a:ext cx="8938727" cy="646331"/>
          </a:xfrm>
          <a:prstGeom prst="rect">
            <a:avLst/>
          </a:prstGeom>
          <a:noFill/>
        </p:spPr>
        <p:txBody>
          <a:bodyPr wrap="square" rtlCol="0">
            <a:spAutoFit/>
          </a:bodyPr>
          <a:lstStyle/>
          <a:p>
            <a:r>
              <a:rPr lang="en-US" sz="1800" dirty="0"/>
              <a:t>This query calculates the </a:t>
            </a:r>
            <a:r>
              <a:rPr lang="en-US" sz="1800" b="1" dirty="0"/>
              <a:t>total salary expenditure</a:t>
            </a:r>
            <a:r>
              <a:rPr lang="en-US" sz="1800" dirty="0"/>
              <a:t> across all employees from the SalaryBonus table, showing an overall cost of </a:t>
            </a:r>
            <a:r>
              <a:rPr lang="en-US" sz="1800" b="1" dirty="0"/>
              <a:t>4,321,000.00</a:t>
            </a:r>
            <a:r>
              <a:rPr lang="en-US" sz="1800" dirty="0"/>
              <a:t>.</a:t>
            </a:r>
          </a:p>
        </p:txBody>
      </p:sp>
      <p:sp>
        <p:nvSpPr>
          <p:cNvPr id="5" name="Text Placeholder 4">
            <a:extLst>
              <a:ext uri="{FF2B5EF4-FFF2-40B4-BE49-F238E27FC236}">
                <a16:creationId xmlns:a16="http://schemas.microsoft.com/office/drawing/2014/main" id="{C41B0495-90B4-E691-356F-83CB8FE34E06}"/>
              </a:ext>
            </a:extLst>
          </p:cNvPr>
          <p:cNvSpPr>
            <a:spLocks noGrp="1"/>
          </p:cNvSpPr>
          <p:nvPr>
            <p:ph type="body" idx="1"/>
          </p:nvPr>
        </p:nvSpPr>
        <p:spPr/>
        <p:txBody>
          <a:bodyPr/>
          <a:lstStyle/>
          <a:p>
            <a:endParaRPr lang="en-IN" dirty="0"/>
          </a:p>
        </p:txBody>
      </p:sp>
      <p:pic>
        <p:nvPicPr>
          <p:cNvPr id="8" name="Picture 7">
            <a:extLst>
              <a:ext uri="{FF2B5EF4-FFF2-40B4-BE49-F238E27FC236}">
                <a16:creationId xmlns:a16="http://schemas.microsoft.com/office/drawing/2014/main" id="{743FBDD0-2F08-7080-1BF0-DBC1E05955DC}"/>
              </a:ext>
            </a:extLst>
          </p:cNvPr>
          <p:cNvPicPr>
            <a:picLocks noChangeAspect="1"/>
          </p:cNvPicPr>
          <p:nvPr/>
        </p:nvPicPr>
        <p:blipFill>
          <a:blip r:embed="rId2"/>
          <a:stretch>
            <a:fillRect/>
          </a:stretch>
        </p:blipFill>
        <p:spPr>
          <a:xfrm>
            <a:off x="838200" y="2074333"/>
            <a:ext cx="10515600" cy="21816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826" y="152400"/>
            <a:ext cx="6641054" cy="1340498"/>
          </a:xfrm>
        </p:spPr>
        <p:txBody>
          <a:bodyPr>
            <a:normAutofit fontScale="90000"/>
          </a:bodyPr>
          <a:lstStyle/>
          <a:p>
            <a:pPr rtl="0">
              <a:spcBef>
                <a:spcPts val="1400"/>
              </a:spcBef>
              <a:spcAft>
                <a:spcPts val="400"/>
              </a:spcAft>
            </a:pPr>
            <a:r>
              <a:rPr lang="en-US" sz="2700" b="1" i="0" u="none" strike="noStrike" dirty="0">
                <a:solidFill>
                  <a:srgbClr val="000000"/>
                </a:solidFill>
                <a:effectLst/>
                <a:latin typeface="Times New Roman" panose="02020603050405020304" pitchFamily="18" charset="0"/>
                <a:cs typeface="Times New Roman" panose="02020603050405020304" pitchFamily="18" charset="0"/>
              </a:rPr>
              <a:t>2. JOB ROLE AND DEPARTMENT ANALYSIS</a:t>
            </a:r>
            <a:br>
              <a:rPr lang="en-US" sz="2700" b="1" i="0" u="none" strike="noStrike" dirty="0">
                <a:solidFill>
                  <a:srgbClr val="000000"/>
                </a:solidFill>
                <a:effectLst/>
                <a:latin typeface="Times New Roman" panose="02020603050405020304" pitchFamily="18" charset="0"/>
                <a:cs typeface="Times New Roman" panose="02020603050405020304" pitchFamily="18" charset="0"/>
              </a:rPr>
            </a:br>
            <a:br>
              <a:rPr lang="en-US" sz="2700" b="1" i="0" u="none" strike="noStrike" dirty="0">
                <a:solidFill>
                  <a:srgbClr val="000000"/>
                </a:solidFill>
                <a:effectLst/>
                <a:latin typeface="Times New Roman" panose="02020603050405020304" pitchFamily="18" charset="0"/>
                <a:cs typeface="Times New Roman" panose="02020603050405020304" pitchFamily="18" charset="0"/>
              </a:rPr>
            </a:br>
            <a:br>
              <a:rPr lang="en-US" sz="2700" b="1" dirty="0">
                <a:effectLst/>
                <a:latin typeface="Times New Roman" panose="02020603050405020304" pitchFamily="18" charset="0"/>
                <a:cs typeface="Times New Roman" panose="02020603050405020304" pitchFamily="18" charset="0"/>
              </a:rPr>
            </a:br>
            <a:r>
              <a:rPr lang="en-US" sz="1100" b="1" dirty="0">
                <a:effectLst/>
              </a:rPr>
              <a:t>      </a:t>
            </a:r>
            <a:r>
              <a:rPr lang="en-US" sz="2200" b="1" i="0" u="none" strike="noStrike" dirty="0">
                <a:solidFill>
                  <a:srgbClr val="C00000"/>
                </a:solidFill>
                <a:effectLst/>
                <a:latin typeface="Times New Roman" panose="02020603050405020304" pitchFamily="18" charset="0"/>
                <a:cs typeface="Times New Roman" panose="02020603050405020304" pitchFamily="18" charset="0"/>
              </a:rPr>
              <a:t>How many different </a:t>
            </a:r>
            <a:r>
              <a:rPr lang="en-US" sz="2000" b="1" i="0" u="none" strike="noStrike" dirty="0">
                <a:solidFill>
                  <a:srgbClr val="C00000"/>
                </a:solidFill>
                <a:effectLst/>
                <a:latin typeface="Times New Roman" panose="02020603050405020304" pitchFamily="18" charset="0"/>
                <a:cs typeface="Times New Roman" panose="02020603050405020304" pitchFamily="18" charset="0"/>
              </a:rPr>
              <a:t>job</a:t>
            </a:r>
            <a:r>
              <a:rPr lang="en-US" sz="2200" b="1" i="0" u="none" strike="noStrike" dirty="0">
                <a:solidFill>
                  <a:srgbClr val="C00000"/>
                </a:solidFill>
                <a:effectLst/>
                <a:latin typeface="Times New Roman" panose="02020603050405020304" pitchFamily="18" charset="0"/>
                <a:cs typeface="Times New Roman" panose="02020603050405020304" pitchFamily="18" charset="0"/>
              </a:rPr>
              <a:t> roles exist in each department</a:t>
            </a:r>
            <a:r>
              <a:rPr lang="en-US" sz="2200" b="0" i="0" u="none" strike="noStrike" dirty="0">
                <a:solidFill>
                  <a:srgbClr val="C00000"/>
                </a:solidFill>
                <a:effectLst/>
                <a:latin typeface="Times New Roman" panose="02020603050405020304" pitchFamily="18" charset="0"/>
                <a:cs typeface="Times New Roman" panose="02020603050405020304" pitchFamily="18" charset="0"/>
              </a:rPr>
              <a:t>?</a:t>
            </a:r>
            <a:br>
              <a:rPr lang="en-US" sz="2200" b="0" i="0" u="none" strike="noStrike" dirty="0">
                <a:solidFill>
                  <a:srgbClr val="C00000"/>
                </a:solidFill>
                <a:effectLst/>
                <a:latin typeface="Times New Roman" panose="02020603050405020304" pitchFamily="18" charset="0"/>
                <a:cs typeface="Times New Roman" panose="02020603050405020304" pitchFamily="18" charset="0"/>
              </a:rPr>
            </a:br>
            <a:endParaRPr lang="en-US" sz="2200" dirty="0">
              <a:solidFill>
                <a:srgbClr val="C0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998376" y="4886528"/>
            <a:ext cx="7454743" cy="1077218"/>
          </a:xfrm>
          <a:prstGeom prst="rect">
            <a:avLst/>
          </a:prstGeom>
          <a:noFill/>
        </p:spPr>
        <p:txBody>
          <a:bodyPr wrap="square" rtlCol="0">
            <a:spAutoFit/>
          </a:bodyPr>
          <a:lstStyle/>
          <a:p>
            <a:r>
              <a:rPr lang="en-US" sz="1600" dirty="0"/>
              <a:t>The query counts the total job roles in each department using the COUNT function.</a:t>
            </a:r>
            <a:br>
              <a:rPr lang="en-US" sz="1600" dirty="0"/>
            </a:br>
            <a:r>
              <a:rPr lang="en-US" sz="1600" dirty="0"/>
              <a:t>It groups results by department and sorts them from highest to lowest.</a:t>
            </a:r>
            <a:br>
              <a:rPr lang="en-US" sz="1600" dirty="0"/>
            </a:br>
            <a:r>
              <a:rPr lang="en-US" sz="1600" dirty="0"/>
              <a:t>Finance tops the list with the most job roles.</a:t>
            </a:r>
          </a:p>
        </p:txBody>
      </p:sp>
      <p:sp>
        <p:nvSpPr>
          <p:cNvPr id="6" name="Text Placeholder 5">
            <a:extLst>
              <a:ext uri="{FF2B5EF4-FFF2-40B4-BE49-F238E27FC236}">
                <a16:creationId xmlns:a16="http://schemas.microsoft.com/office/drawing/2014/main" id="{9B6F38E2-E6C4-FB71-68B4-2576DEFB6D8E}"/>
              </a:ext>
            </a:extLst>
          </p:cNvPr>
          <p:cNvSpPr>
            <a:spLocks noGrp="1"/>
          </p:cNvSpPr>
          <p:nvPr>
            <p:ph type="body" idx="1"/>
          </p:nvPr>
        </p:nvSpPr>
        <p:spPr/>
        <p:txBody>
          <a:bodyPr/>
          <a:lstStyle/>
          <a:p>
            <a:endParaRPr lang="en-IN" dirty="0"/>
          </a:p>
        </p:txBody>
      </p:sp>
      <p:pic>
        <p:nvPicPr>
          <p:cNvPr id="8" name="Picture 7">
            <a:extLst>
              <a:ext uri="{FF2B5EF4-FFF2-40B4-BE49-F238E27FC236}">
                <a16:creationId xmlns:a16="http://schemas.microsoft.com/office/drawing/2014/main" id="{2F946436-13E5-EFF0-5AC8-418552A1445F}"/>
              </a:ext>
            </a:extLst>
          </p:cNvPr>
          <p:cNvPicPr>
            <a:picLocks noChangeAspect="1"/>
          </p:cNvPicPr>
          <p:nvPr/>
        </p:nvPicPr>
        <p:blipFill>
          <a:blip r:embed="rId2"/>
          <a:stretch>
            <a:fillRect/>
          </a:stretch>
        </p:blipFill>
        <p:spPr>
          <a:xfrm>
            <a:off x="838200" y="1825625"/>
            <a:ext cx="10442510" cy="30609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5193" y="152398"/>
            <a:ext cx="5276328" cy="1247193"/>
          </a:xfrm>
        </p:spPr>
        <p:txBody>
          <a:bodyPr>
            <a:noAutofit/>
          </a:bodyPr>
          <a:lstStyle/>
          <a:p>
            <a:r>
              <a:rPr lang="en-US" sz="2000" b="0" i="0" u="none" strike="noStrike" dirty="0">
                <a:solidFill>
                  <a:srgbClr val="000000"/>
                </a:solidFill>
                <a:effectLst/>
                <a:latin typeface="Arial" panose="020B0604020202020204" pitchFamily="34" charset="0"/>
              </a:rPr>
              <a:t> </a:t>
            </a:r>
            <a:r>
              <a:rPr lang="en-US" sz="2000" b="1" i="0" u="none" strike="noStrike" dirty="0">
                <a:solidFill>
                  <a:srgbClr val="C00000"/>
                </a:solidFill>
                <a:effectLst/>
                <a:latin typeface="Times New Roman" panose="02020603050405020304" pitchFamily="18" charset="0"/>
                <a:cs typeface="Times New Roman" panose="02020603050405020304" pitchFamily="18" charset="0"/>
              </a:rPr>
              <a:t>What is the average salary range per department?</a:t>
            </a:r>
            <a:br>
              <a:rPr lang="en-US" sz="2000" b="1" i="0" u="none" strike="noStrike" dirty="0">
                <a:solidFill>
                  <a:srgbClr val="C00000"/>
                </a:solidFill>
                <a:effectLst/>
                <a:latin typeface="Times New Roman" panose="02020603050405020304" pitchFamily="18" charset="0"/>
                <a:cs typeface="Times New Roman" panose="02020603050405020304" pitchFamily="18" charset="0"/>
              </a:rPr>
            </a:br>
            <a:br>
              <a:rPr lang="en-US" sz="2000" b="1" i="0" u="none" strike="noStrike" dirty="0">
                <a:solidFill>
                  <a:srgbClr val="C00000"/>
                </a:solidFill>
                <a:effectLst/>
                <a:latin typeface="Times New Roman" panose="02020603050405020304" pitchFamily="18" charset="0"/>
                <a:cs typeface="Times New Roman" panose="02020603050405020304" pitchFamily="18" charset="0"/>
              </a:rPr>
            </a:br>
            <a:br>
              <a:rPr lang="en-US" sz="2000" b="0" i="0" u="none" strike="noStrike" dirty="0">
                <a:solidFill>
                  <a:srgbClr val="000000"/>
                </a:solidFill>
                <a:effectLst/>
                <a:latin typeface="Arial" panose="020B0604020202020204" pitchFamily="34" charset="0"/>
              </a:rPr>
            </a:br>
            <a:endParaRPr lang="en-US" sz="2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838199" y="5316967"/>
            <a:ext cx="9027161" cy="523220"/>
          </a:xfrm>
          <a:prstGeom prst="rect">
            <a:avLst/>
          </a:prstGeom>
          <a:noFill/>
        </p:spPr>
        <p:txBody>
          <a:bodyPr wrap="square" rtlCol="0">
            <a:spAutoFit/>
          </a:bodyPr>
          <a:lstStyle/>
          <a:p>
            <a:r>
              <a:rPr lang="en-US" dirty="0"/>
              <a:t>The goal of this query is to compute the </a:t>
            </a:r>
            <a:r>
              <a:rPr lang="en-US" b="1" dirty="0"/>
              <a:t>average salary range</a:t>
            </a:r>
            <a:r>
              <a:rPr lang="en-US" dirty="0"/>
              <a:t> for every department based on the </a:t>
            </a:r>
            <a:r>
              <a:rPr lang="en-US" dirty="0" err="1"/>
              <a:t>salaryrange</a:t>
            </a:r>
            <a:r>
              <a:rPr lang="en-US" dirty="0"/>
              <a:t> column in the </a:t>
            </a:r>
            <a:r>
              <a:rPr lang="en-US" dirty="0" err="1"/>
              <a:t>JobDepartment</a:t>
            </a:r>
            <a:r>
              <a:rPr lang="en-US" dirty="0"/>
              <a:t> table.</a:t>
            </a:r>
          </a:p>
        </p:txBody>
      </p:sp>
      <p:sp>
        <p:nvSpPr>
          <p:cNvPr id="5" name="Text Placeholder 4">
            <a:extLst>
              <a:ext uri="{FF2B5EF4-FFF2-40B4-BE49-F238E27FC236}">
                <a16:creationId xmlns:a16="http://schemas.microsoft.com/office/drawing/2014/main" id="{0FF33867-885B-81B5-C8C2-B912792A1D35}"/>
              </a:ext>
            </a:extLst>
          </p:cNvPr>
          <p:cNvSpPr>
            <a:spLocks noGrp="1"/>
          </p:cNvSpPr>
          <p:nvPr>
            <p:ph type="body" idx="1"/>
          </p:nvPr>
        </p:nvSpPr>
        <p:spPr/>
        <p:txBody>
          <a:bodyPr/>
          <a:lstStyle/>
          <a:p>
            <a:r>
              <a:rPr lang="en-US" dirty="0"/>
              <a:t> </a:t>
            </a:r>
            <a:endParaRPr lang="en-IN" dirty="0"/>
          </a:p>
        </p:txBody>
      </p:sp>
      <p:pic>
        <p:nvPicPr>
          <p:cNvPr id="7" name="Picture 6">
            <a:extLst>
              <a:ext uri="{FF2B5EF4-FFF2-40B4-BE49-F238E27FC236}">
                <a16:creationId xmlns:a16="http://schemas.microsoft.com/office/drawing/2014/main" id="{93FFC937-FF44-775D-9822-1E6ABE1E4530}"/>
              </a:ext>
            </a:extLst>
          </p:cNvPr>
          <p:cNvPicPr>
            <a:picLocks noChangeAspect="1"/>
          </p:cNvPicPr>
          <p:nvPr/>
        </p:nvPicPr>
        <p:blipFill>
          <a:blip r:embed="rId2"/>
          <a:stretch>
            <a:fillRect/>
          </a:stretch>
        </p:blipFill>
        <p:spPr>
          <a:xfrm>
            <a:off x="177282" y="858557"/>
            <a:ext cx="11821885" cy="42452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085" y="172719"/>
            <a:ext cx="4817968" cy="832603"/>
          </a:xfrm>
        </p:spPr>
        <p:txBody>
          <a:bodyPr>
            <a:normAutofit/>
          </a:bodyPr>
          <a:lstStyle/>
          <a:p>
            <a:r>
              <a:rPr lang="en-US" sz="2000" b="1" i="0" u="none" strike="noStrike" dirty="0">
                <a:solidFill>
                  <a:srgbClr val="C00000"/>
                </a:solidFill>
                <a:effectLst/>
                <a:latin typeface="Times New Roman" panose="02020603050405020304" pitchFamily="18" charset="0"/>
                <a:cs typeface="Times New Roman" panose="02020603050405020304" pitchFamily="18" charset="0"/>
              </a:rPr>
              <a:t>  Which job roles offer the highest salary?</a:t>
            </a:r>
            <a:br>
              <a:rPr lang="en-US" sz="2000" b="1" i="0" u="none" strike="noStrike" dirty="0">
                <a:solidFill>
                  <a:srgbClr val="C00000"/>
                </a:solidFill>
                <a:effectLst/>
                <a:latin typeface="Times New Roman" panose="02020603050405020304" pitchFamily="18" charset="0"/>
                <a:cs typeface="Times New Roman" panose="02020603050405020304" pitchFamily="18" charset="0"/>
              </a:rPr>
            </a:br>
            <a:endParaRPr lang="en-US" sz="2000" b="1" dirty="0">
              <a:solidFill>
                <a:srgbClr val="C0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783771" y="4898570"/>
            <a:ext cx="9294949" cy="954107"/>
          </a:xfrm>
          <a:prstGeom prst="rect">
            <a:avLst/>
          </a:prstGeom>
          <a:noFill/>
        </p:spPr>
        <p:txBody>
          <a:bodyPr wrap="square" rtlCol="0">
            <a:spAutoFit/>
          </a:bodyPr>
          <a:lstStyle/>
          <a:p>
            <a:r>
              <a:rPr lang="en-US" dirty="0"/>
              <a:t>The query lists the </a:t>
            </a:r>
            <a:r>
              <a:rPr lang="en-US" b="1" dirty="0"/>
              <a:t>top 5 highest-paying job roles</a:t>
            </a:r>
            <a:r>
              <a:rPr lang="en-US" dirty="0"/>
              <a:t> by joining job and salary tables.</a:t>
            </a:r>
            <a:br>
              <a:rPr lang="en-US" dirty="0"/>
            </a:br>
            <a:r>
              <a:rPr lang="en-US" dirty="0"/>
              <a:t>It sorts salaries in </a:t>
            </a:r>
            <a:r>
              <a:rPr lang="en-US" b="1" dirty="0"/>
              <a:t>descending order</a:t>
            </a:r>
            <a:r>
              <a:rPr lang="en-US" dirty="0"/>
              <a:t> to show the highest first.</a:t>
            </a:r>
            <a:br>
              <a:rPr lang="en-US" dirty="0"/>
            </a:br>
            <a:r>
              <a:rPr lang="en-US" b="1" dirty="0"/>
              <a:t>Finance Director</a:t>
            </a:r>
            <a:r>
              <a:rPr lang="en-US" dirty="0"/>
              <a:t> has the highest salary, followed by Engineering and Marketing Directors.</a:t>
            </a:r>
          </a:p>
          <a:p>
            <a:endParaRPr lang="en-US" dirty="0"/>
          </a:p>
        </p:txBody>
      </p:sp>
      <p:sp>
        <p:nvSpPr>
          <p:cNvPr id="6" name="Text Placeholder 5">
            <a:extLst>
              <a:ext uri="{FF2B5EF4-FFF2-40B4-BE49-F238E27FC236}">
                <a16:creationId xmlns:a16="http://schemas.microsoft.com/office/drawing/2014/main" id="{F81C7DC9-2080-AB28-0D71-3DF6B04822C2}"/>
              </a:ext>
            </a:extLst>
          </p:cNvPr>
          <p:cNvSpPr>
            <a:spLocks noGrp="1"/>
          </p:cNvSpPr>
          <p:nvPr>
            <p:ph type="body" idx="1"/>
          </p:nvPr>
        </p:nvSpPr>
        <p:spPr>
          <a:xfrm>
            <a:off x="783771" y="1005322"/>
            <a:ext cx="10570029" cy="5171641"/>
          </a:xfrm>
        </p:spPr>
        <p:txBody>
          <a:bodyPr/>
          <a:lstStyle/>
          <a:p>
            <a:endParaRPr lang="en-IN" dirty="0"/>
          </a:p>
        </p:txBody>
      </p:sp>
      <p:pic>
        <p:nvPicPr>
          <p:cNvPr id="8" name="Picture 7">
            <a:extLst>
              <a:ext uri="{FF2B5EF4-FFF2-40B4-BE49-F238E27FC236}">
                <a16:creationId xmlns:a16="http://schemas.microsoft.com/office/drawing/2014/main" id="{8AC54C9A-AAEF-D1C3-6412-A7D366DF5BE9}"/>
              </a:ext>
            </a:extLst>
          </p:cNvPr>
          <p:cNvPicPr>
            <a:picLocks noChangeAspect="1"/>
          </p:cNvPicPr>
          <p:nvPr/>
        </p:nvPicPr>
        <p:blipFill>
          <a:blip r:embed="rId2"/>
          <a:stretch>
            <a:fillRect/>
          </a:stretch>
        </p:blipFill>
        <p:spPr>
          <a:xfrm>
            <a:off x="764046" y="1203650"/>
            <a:ext cx="10589754" cy="361094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20" y="111760"/>
            <a:ext cx="7151073" cy="737326"/>
          </a:xfrm>
        </p:spPr>
        <p:txBody>
          <a:bodyPr>
            <a:normAutofit/>
          </a:bodyPr>
          <a:lstStyle/>
          <a:p>
            <a:r>
              <a:rPr lang="en-US" sz="1800" b="1" dirty="0">
                <a:solidFill>
                  <a:srgbClr val="C00000"/>
                </a:solidFill>
                <a:latin typeface="Times New Roman" panose="02020603050405020304" pitchFamily="18" charset="0"/>
                <a:cs typeface="Times New Roman" panose="02020603050405020304" pitchFamily="18" charset="0"/>
              </a:rPr>
              <a:t>Which departments have the highest total salary allocation?</a:t>
            </a:r>
          </a:p>
        </p:txBody>
      </p:sp>
      <p:sp>
        <p:nvSpPr>
          <p:cNvPr id="4" name="TextBox 3"/>
          <p:cNvSpPr txBox="1"/>
          <p:nvPr/>
        </p:nvSpPr>
        <p:spPr>
          <a:xfrm>
            <a:off x="737118" y="4765520"/>
            <a:ext cx="8975842" cy="523220"/>
          </a:xfrm>
          <a:prstGeom prst="rect">
            <a:avLst/>
          </a:prstGeom>
          <a:noFill/>
        </p:spPr>
        <p:txBody>
          <a:bodyPr wrap="square" rtlCol="0">
            <a:spAutoFit/>
          </a:bodyPr>
          <a:lstStyle/>
          <a:p>
            <a:r>
              <a:rPr lang="en-US" dirty="0"/>
              <a:t>This query calculates the total salary (including bonuses) for each department by summing the amount from the SalaryBonus table. It groups results by department and displays them in descending order of total salary.</a:t>
            </a:r>
          </a:p>
        </p:txBody>
      </p:sp>
      <p:sp>
        <p:nvSpPr>
          <p:cNvPr id="8" name="Text Placeholder 7">
            <a:extLst>
              <a:ext uri="{FF2B5EF4-FFF2-40B4-BE49-F238E27FC236}">
                <a16:creationId xmlns:a16="http://schemas.microsoft.com/office/drawing/2014/main" id="{65830D91-5112-FA22-A02B-D0545C15EE09}"/>
              </a:ext>
            </a:extLst>
          </p:cNvPr>
          <p:cNvSpPr>
            <a:spLocks noGrp="1"/>
          </p:cNvSpPr>
          <p:nvPr>
            <p:ph type="body" idx="1"/>
          </p:nvPr>
        </p:nvSpPr>
        <p:spPr>
          <a:xfrm>
            <a:off x="858416" y="737118"/>
            <a:ext cx="10495384" cy="5439845"/>
          </a:xfrm>
        </p:spPr>
        <p:txBody>
          <a:bodyPr/>
          <a:lstStyle/>
          <a:p>
            <a:endParaRPr lang="en-IN" dirty="0"/>
          </a:p>
        </p:txBody>
      </p:sp>
      <p:pic>
        <p:nvPicPr>
          <p:cNvPr id="10" name="Picture 9">
            <a:extLst>
              <a:ext uri="{FF2B5EF4-FFF2-40B4-BE49-F238E27FC236}">
                <a16:creationId xmlns:a16="http://schemas.microsoft.com/office/drawing/2014/main" id="{82F89C11-7EE8-4A52-1E45-B978C6C37147}"/>
              </a:ext>
            </a:extLst>
          </p:cNvPr>
          <p:cNvPicPr>
            <a:picLocks noChangeAspect="1"/>
          </p:cNvPicPr>
          <p:nvPr/>
        </p:nvPicPr>
        <p:blipFill>
          <a:blip r:embed="rId2"/>
          <a:stretch>
            <a:fillRect/>
          </a:stretch>
        </p:blipFill>
        <p:spPr>
          <a:xfrm>
            <a:off x="1063690" y="974535"/>
            <a:ext cx="9731828" cy="37909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340" y="590109"/>
            <a:ext cx="7987553" cy="660401"/>
          </a:xfrm>
        </p:spPr>
        <p:txBody>
          <a:bodyPr>
            <a:normAutofit fontScale="90000"/>
          </a:bodyPr>
          <a:lstStyle/>
          <a:p>
            <a:pPr rtl="0">
              <a:spcBef>
                <a:spcPts val="1400"/>
              </a:spcBef>
              <a:spcAft>
                <a:spcPts val="400"/>
              </a:spcAft>
            </a:pPr>
            <a:r>
              <a:rPr lang="en-US" sz="2700" b="1" i="0" u="none" strike="noStrike" dirty="0">
                <a:solidFill>
                  <a:srgbClr val="000000"/>
                </a:solidFill>
                <a:effectLst/>
                <a:latin typeface="Times New Roman" panose="02020603050405020304" pitchFamily="18" charset="0"/>
                <a:cs typeface="Times New Roman" panose="02020603050405020304" pitchFamily="18" charset="0"/>
              </a:rPr>
              <a:t>   3. </a:t>
            </a:r>
            <a:r>
              <a:rPr lang="en-US" sz="2700" b="1" i="0" u="none" strike="noStrike" dirty="0">
                <a:solidFill>
                  <a:schemeClr val="tx1"/>
                </a:solidFill>
                <a:effectLst/>
                <a:latin typeface="Times New Roman" panose="02020603050405020304" pitchFamily="18" charset="0"/>
                <a:cs typeface="Times New Roman" panose="02020603050405020304" pitchFamily="18" charset="0"/>
              </a:rPr>
              <a:t>QUALIFICATION AND SKILLS ANALYSIS</a:t>
            </a:r>
            <a:br>
              <a:rPr lang="en-US" sz="2700" b="1" i="0" u="none" strike="noStrike" dirty="0">
                <a:solidFill>
                  <a:schemeClr val="tx1"/>
                </a:solidFill>
                <a:effectLst/>
                <a:latin typeface="Times New Roman" panose="02020603050405020304" pitchFamily="18" charset="0"/>
                <a:cs typeface="Times New Roman" panose="02020603050405020304" pitchFamily="18" charset="0"/>
              </a:rPr>
            </a:br>
            <a:br>
              <a:rPr lang="en-US" sz="4000" b="1" dirty="0">
                <a:effectLst/>
                <a:latin typeface="Times New Roman" panose="02020603050405020304" pitchFamily="18" charset="0"/>
                <a:cs typeface="Times New Roman" panose="02020603050405020304" pitchFamily="18" charset="0"/>
              </a:rPr>
            </a:br>
            <a:r>
              <a:rPr lang="en-US" sz="4000" b="1" dirty="0">
                <a:effectLst/>
                <a:latin typeface="Times New Roman" panose="02020603050405020304" pitchFamily="18" charset="0"/>
                <a:cs typeface="Times New Roman" panose="02020603050405020304" pitchFamily="18" charset="0"/>
              </a:rPr>
              <a:t>   </a:t>
            </a:r>
            <a:r>
              <a:rPr lang="en-US" sz="2200" b="1" i="0" u="none" strike="noStrike" dirty="0">
                <a:solidFill>
                  <a:srgbClr val="C00000"/>
                </a:solidFill>
                <a:effectLst/>
                <a:latin typeface="Times New Roman" panose="02020603050405020304" pitchFamily="18" charset="0"/>
                <a:cs typeface="Times New Roman" panose="02020603050405020304" pitchFamily="18" charset="0"/>
              </a:rPr>
              <a:t>How many employees have at least one qualification listed</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a:t>
            </a:r>
            <a:br>
              <a:rPr lang="en-US" sz="20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2000" dirty="0"/>
          </a:p>
        </p:txBody>
      </p:sp>
      <p:sp>
        <p:nvSpPr>
          <p:cNvPr id="3" name="TextBox 2"/>
          <p:cNvSpPr txBox="1"/>
          <p:nvPr/>
        </p:nvSpPr>
        <p:spPr>
          <a:xfrm>
            <a:off x="1063689" y="3853541"/>
            <a:ext cx="7987553" cy="1323439"/>
          </a:xfrm>
          <a:prstGeom prst="rect">
            <a:avLst/>
          </a:prstGeom>
          <a:noFill/>
        </p:spPr>
        <p:txBody>
          <a:bodyPr wrap="square" rtlCol="0">
            <a:spAutoFit/>
          </a:bodyPr>
          <a:lstStyle/>
          <a:p>
            <a:r>
              <a:rPr lang="en-US" sz="2000" dirty="0"/>
              <a:t>This query counts the number of unique employees who have qualifications.</a:t>
            </a:r>
            <a:br>
              <a:rPr lang="en-US" sz="2000" dirty="0"/>
            </a:br>
            <a:r>
              <a:rPr lang="en-US" sz="2000" dirty="0"/>
              <a:t>It retrieves the total count (60 employees) from the Qualification table.</a:t>
            </a:r>
          </a:p>
        </p:txBody>
      </p:sp>
      <p:sp>
        <p:nvSpPr>
          <p:cNvPr id="6" name="Text Placeholder 5">
            <a:extLst>
              <a:ext uri="{FF2B5EF4-FFF2-40B4-BE49-F238E27FC236}">
                <a16:creationId xmlns:a16="http://schemas.microsoft.com/office/drawing/2014/main" id="{34D5D45C-A3C1-E300-753E-C279D46C8792}"/>
              </a:ext>
            </a:extLst>
          </p:cNvPr>
          <p:cNvSpPr>
            <a:spLocks noGrp="1"/>
          </p:cNvSpPr>
          <p:nvPr>
            <p:ph type="body" idx="1"/>
          </p:nvPr>
        </p:nvSpPr>
        <p:spPr>
          <a:xfrm>
            <a:off x="838199" y="1520890"/>
            <a:ext cx="10515601" cy="4656073"/>
          </a:xfrm>
        </p:spPr>
        <p:txBody>
          <a:bodyPr/>
          <a:lstStyle/>
          <a:p>
            <a:endParaRPr lang="en-IN" dirty="0"/>
          </a:p>
        </p:txBody>
      </p:sp>
      <p:pic>
        <p:nvPicPr>
          <p:cNvPr id="8" name="Picture 7">
            <a:extLst>
              <a:ext uri="{FF2B5EF4-FFF2-40B4-BE49-F238E27FC236}">
                <a16:creationId xmlns:a16="http://schemas.microsoft.com/office/drawing/2014/main" id="{B5079E98-1A25-0505-579B-A4218112BB8D}"/>
              </a:ext>
            </a:extLst>
          </p:cNvPr>
          <p:cNvPicPr>
            <a:picLocks noChangeAspect="1"/>
          </p:cNvPicPr>
          <p:nvPr/>
        </p:nvPicPr>
        <p:blipFill>
          <a:blip r:embed="rId2"/>
          <a:stretch>
            <a:fillRect/>
          </a:stretch>
        </p:blipFill>
        <p:spPr>
          <a:xfrm>
            <a:off x="1063689" y="1643394"/>
            <a:ext cx="10290112" cy="22101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279" y="121920"/>
            <a:ext cx="5589722" cy="467360"/>
          </a:xfrm>
        </p:spPr>
        <p:txBody>
          <a:bodyPr>
            <a:normAutofit/>
          </a:bodyPr>
          <a:lstStyle/>
          <a:p>
            <a:r>
              <a:rPr lang="en-US" sz="1800" b="1" i="0" u="none" strike="noStrike" dirty="0">
                <a:solidFill>
                  <a:srgbClr val="C00000"/>
                </a:solidFill>
                <a:effectLst/>
                <a:latin typeface="Times New Roman" panose="02020603050405020304" pitchFamily="18" charset="0"/>
                <a:cs typeface="Times New Roman" panose="02020603050405020304" pitchFamily="18" charset="0"/>
              </a:rPr>
              <a:t>Which positions require the most qualifications</a:t>
            </a:r>
            <a:endParaRPr lang="en-US" sz="1800" b="1" dirty="0">
              <a:solidFill>
                <a:srgbClr val="C00000"/>
              </a:solidFill>
            </a:endParaRPr>
          </a:p>
        </p:txBody>
      </p:sp>
      <p:sp>
        <p:nvSpPr>
          <p:cNvPr id="3" name="TextBox 2"/>
          <p:cNvSpPr txBox="1"/>
          <p:nvPr/>
        </p:nvSpPr>
        <p:spPr>
          <a:xfrm>
            <a:off x="793102" y="4951380"/>
            <a:ext cx="8686177" cy="738664"/>
          </a:xfrm>
          <a:prstGeom prst="rect">
            <a:avLst/>
          </a:prstGeom>
          <a:noFill/>
        </p:spPr>
        <p:txBody>
          <a:bodyPr wrap="square" rtlCol="0">
            <a:spAutoFit/>
          </a:bodyPr>
          <a:lstStyle/>
          <a:p>
            <a:r>
              <a:rPr lang="en-US" dirty="0"/>
              <a:t>This SQL query counts the number of qualifications for each job position.</a:t>
            </a:r>
            <a:br>
              <a:rPr lang="en-US" dirty="0"/>
            </a:br>
            <a:r>
              <a:rPr lang="en-US" dirty="0"/>
              <a:t>It groups the data by position and displays total qualifications in descending order.</a:t>
            </a:r>
          </a:p>
          <a:p>
            <a:endParaRPr lang="en-US" dirty="0"/>
          </a:p>
        </p:txBody>
      </p:sp>
      <p:sp>
        <p:nvSpPr>
          <p:cNvPr id="8" name="Text Placeholder 7">
            <a:extLst>
              <a:ext uri="{FF2B5EF4-FFF2-40B4-BE49-F238E27FC236}">
                <a16:creationId xmlns:a16="http://schemas.microsoft.com/office/drawing/2014/main" id="{1EF5AB1C-17C5-8157-273A-8456C01FA202}"/>
              </a:ext>
            </a:extLst>
          </p:cNvPr>
          <p:cNvSpPr>
            <a:spLocks noGrp="1"/>
          </p:cNvSpPr>
          <p:nvPr>
            <p:ph type="body" idx="1"/>
          </p:nvPr>
        </p:nvSpPr>
        <p:spPr>
          <a:xfrm>
            <a:off x="718457" y="589280"/>
            <a:ext cx="10635343" cy="5587683"/>
          </a:xfrm>
        </p:spPr>
        <p:txBody>
          <a:bodyPr/>
          <a:lstStyle/>
          <a:p>
            <a:endParaRPr lang="en-IN"/>
          </a:p>
        </p:txBody>
      </p:sp>
      <p:pic>
        <p:nvPicPr>
          <p:cNvPr id="10" name="Picture 9">
            <a:extLst>
              <a:ext uri="{FF2B5EF4-FFF2-40B4-BE49-F238E27FC236}">
                <a16:creationId xmlns:a16="http://schemas.microsoft.com/office/drawing/2014/main" id="{D54591AF-45B8-753A-DD43-2E42805AAC00}"/>
              </a:ext>
            </a:extLst>
          </p:cNvPr>
          <p:cNvPicPr>
            <a:picLocks noChangeAspect="1"/>
          </p:cNvPicPr>
          <p:nvPr/>
        </p:nvPicPr>
        <p:blipFill>
          <a:blip r:embed="rId2"/>
          <a:stretch>
            <a:fillRect/>
          </a:stretch>
        </p:blipFill>
        <p:spPr>
          <a:xfrm>
            <a:off x="793102" y="695296"/>
            <a:ext cx="10134600" cy="425608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614" y="162560"/>
            <a:ext cx="6881906" cy="528320"/>
          </a:xfrm>
        </p:spPr>
        <p:txBody>
          <a:bodyPr>
            <a:noAutofit/>
          </a:bodyPr>
          <a:lstStyle/>
          <a:p>
            <a:r>
              <a:rPr lang="en-US" sz="1800" b="1" dirty="0">
                <a:solidFill>
                  <a:srgbClr val="C00000"/>
                </a:solidFill>
                <a:latin typeface="Times New Roman" panose="02020603050405020304" pitchFamily="18" charset="0"/>
                <a:cs typeface="Times New Roman" panose="02020603050405020304" pitchFamily="18" charset="0"/>
              </a:rPr>
              <a:t>Which employees have the highest number of qualifications?</a:t>
            </a:r>
          </a:p>
        </p:txBody>
      </p:sp>
      <p:sp>
        <p:nvSpPr>
          <p:cNvPr id="3" name="TextBox 2"/>
          <p:cNvSpPr txBox="1"/>
          <p:nvPr/>
        </p:nvSpPr>
        <p:spPr>
          <a:xfrm>
            <a:off x="709126" y="4676204"/>
            <a:ext cx="8333273" cy="738664"/>
          </a:xfrm>
          <a:prstGeom prst="rect">
            <a:avLst/>
          </a:prstGeom>
          <a:noFill/>
        </p:spPr>
        <p:txBody>
          <a:bodyPr wrap="square" rtlCol="0">
            <a:spAutoFit/>
          </a:bodyPr>
          <a:lstStyle/>
          <a:p>
            <a:r>
              <a:rPr lang="en-US" dirty="0"/>
              <a:t>This query retrieves the top 5 employees with the highest number of qualifications.</a:t>
            </a:r>
            <a:br>
              <a:rPr lang="en-US" dirty="0"/>
            </a:br>
            <a:r>
              <a:rPr lang="en-US" dirty="0"/>
              <a:t>It joins the Employee and Qualification tables, groups by employee, and orders results by total qualifications in descending order.</a:t>
            </a:r>
          </a:p>
        </p:txBody>
      </p:sp>
      <p:sp>
        <p:nvSpPr>
          <p:cNvPr id="8" name="Text Placeholder 7">
            <a:extLst>
              <a:ext uri="{FF2B5EF4-FFF2-40B4-BE49-F238E27FC236}">
                <a16:creationId xmlns:a16="http://schemas.microsoft.com/office/drawing/2014/main" id="{D4A621F3-3012-6032-68D0-2764881B95A4}"/>
              </a:ext>
            </a:extLst>
          </p:cNvPr>
          <p:cNvSpPr>
            <a:spLocks noGrp="1"/>
          </p:cNvSpPr>
          <p:nvPr>
            <p:ph type="body" idx="1"/>
          </p:nvPr>
        </p:nvSpPr>
        <p:spPr>
          <a:xfrm>
            <a:off x="615821" y="892708"/>
            <a:ext cx="10737980" cy="5349472"/>
          </a:xfrm>
        </p:spPr>
        <p:txBody>
          <a:bodyPr/>
          <a:lstStyle/>
          <a:p>
            <a:endParaRPr lang="en-IN" dirty="0"/>
          </a:p>
        </p:txBody>
      </p:sp>
      <p:pic>
        <p:nvPicPr>
          <p:cNvPr id="10" name="Picture 9">
            <a:extLst>
              <a:ext uri="{FF2B5EF4-FFF2-40B4-BE49-F238E27FC236}">
                <a16:creationId xmlns:a16="http://schemas.microsoft.com/office/drawing/2014/main" id="{B51596BC-1DC2-D34D-B360-4D7487838917}"/>
              </a:ext>
            </a:extLst>
          </p:cNvPr>
          <p:cNvPicPr>
            <a:picLocks noChangeAspect="1"/>
          </p:cNvPicPr>
          <p:nvPr/>
        </p:nvPicPr>
        <p:blipFill>
          <a:blip r:embed="rId3"/>
          <a:stretch>
            <a:fillRect/>
          </a:stretch>
        </p:blipFill>
        <p:spPr>
          <a:xfrm>
            <a:off x="961053" y="892708"/>
            <a:ext cx="10392748" cy="37834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675" y="142240"/>
            <a:ext cx="8292367" cy="1966478"/>
          </a:xfrm>
        </p:spPr>
        <p:txBody>
          <a:bodyPr>
            <a:normAutofit fontScale="90000"/>
          </a:bodyPr>
          <a:lstStyle/>
          <a:p>
            <a:r>
              <a:rPr lang="en-US" sz="2700" b="1" i="0" u="none" strike="noStrike" dirty="0">
                <a:solidFill>
                  <a:schemeClr val="tx1"/>
                </a:solidFill>
                <a:effectLst/>
                <a:latin typeface="Times New Roman" panose="02020603050405020304" pitchFamily="18" charset="0"/>
                <a:cs typeface="Times New Roman" panose="02020603050405020304" pitchFamily="18" charset="0"/>
              </a:rPr>
              <a:t>4. LEAVE AND ABSENCE PATTERNS</a:t>
            </a:r>
            <a:br>
              <a:rPr lang="en-US" sz="2700" b="1" i="0" u="none" strike="noStrike" dirty="0">
                <a:solidFill>
                  <a:schemeClr val="tx1"/>
                </a:solidFill>
                <a:effectLst/>
                <a:latin typeface="Times New Roman" panose="02020603050405020304" pitchFamily="18" charset="0"/>
                <a:cs typeface="Times New Roman" panose="02020603050405020304" pitchFamily="18" charset="0"/>
              </a:rPr>
            </a:br>
            <a:br>
              <a:rPr lang="en-US" sz="1800" b="1" i="0" u="none" strike="noStrike" dirty="0">
                <a:solidFill>
                  <a:srgbClr val="000000"/>
                </a:solidFill>
                <a:effectLst/>
                <a:latin typeface="Arial" panose="020B0604020202020204" pitchFamily="34" charset="0"/>
              </a:rPr>
            </a:br>
            <a:br>
              <a:rPr lang="en-US" sz="1800" b="1" i="0" u="none" strike="noStrike" dirty="0">
                <a:solidFill>
                  <a:srgbClr val="000000"/>
                </a:solidFill>
                <a:effectLst/>
                <a:latin typeface="Arial" panose="020B0604020202020204" pitchFamily="34" charset="0"/>
              </a:rPr>
            </a:br>
            <a:r>
              <a:rPr lang="en-US" sz="1800" b="1" i="0" u="none" strike="noStrike" dirty="0">
                <a:solidFill>
                  <a:srgbClr val="000000"/>
                </a:solidFill>
                <a:effectLst/>
                <a:latin typeface="Arial" panose="020B0604020202020204" pitchFamily="34" charset="0"/>
              </a:rPr>
              <a:t>        </a:t>
            </a:r>
            <a:r>
              <a:rPr lang="en-US" sz="2200" b="1" i="0" u="none" strike="noStrike" dirty="0">
                <a:solidFill>
                  <a:srgbClr val="C00000"/>
                </a:solidFill>
                <a:effectLst/>
                <a:latin typeface="Times New Roman" panose="02020603050405020304" pitchFamily="18" charset="0"/>
                <a:cs typeface="Times New Roman" panose="02020603050405020304" pitchFamily="18" charset="0"/>
              </a:rPr>
              <a:t>Which year had the most employees taking leaves?</a:t>
            </a:r>
            <a:br>
              <a:rPr lang="en-US" sz="2200" b="1" i="0" u="none" strike="noStrike" dirty="0">
                <a:solidFill>
                  <a:srgbClr val="C00000"/>
                </a:solidFill>
                <a:effectLst/>
                <a:latin typeface="Times New Roman" panose="02020603050405020304" pitchFamily="18" charset="0"/>
                <a:cs typeface="Times New Roman" panose="02020603050405020304" pitchFamily="18" charset="0"/>
              </a:rPr>
            </a:br>
            <a:br>
              <a:rPr lang="en-US" sz="2000" b="0" i="0" u="none" strike="noStrike" dirty="0">
                <a:solidFill>
                  <a:srgbClr val="000000"/>
                </a:solidFill>
                <a:effectLst/>
                <a:latin typeface="Times New Roman" panose="02020603050405020304" pitchFamily="18" charset="0"/>
                <a:cs typeface="Times New Roman" panose="02020603050405020304" pitchFamily="18" charset="0"/>
              </a:rPr>
            </a:br>
            <a:br>
              <a:rPr lang="en-US" sz="1800" b="0" i="0" u="none" strike="noStrike" dirty="0">
                <a:solidFill>
                  <a:srgbClr val="000000"/>
                </a:solidFill>
                <a:effectLst/>
                <a:latin typeface="Arial" panose="020B0604020202020204" pitchFamily="34" charset="0"/>
              </a:rPr>
            </a:br>
            <a:br>
              <a:rPr lang="en-US" sz="1100" b="1" dirty="0">
                <a:effectLst/>
              </a:rPr>
            </a:br>
            <a:endParaRPr lang="en-US" sz="2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59837" y="4572000"/>
            <a:ext cx="7730724" cy="523220"/>
          </a:xfrm>
          <a:prstGeom prst="rect">
            <a:avLst/>
          </a:prstGeom>
          <a:noFill/>
        </p:spPr>
        <p:txBody>
          <a:bodyPr wrap="square" rtlCol="0">
            <a:spAutoFit/>
          </a:bodyPr>
          <a:lstStyle/>
          <a:p>
            <a:r>
              <a:rPr lang="en-US" dirty="0"/>
              <a:t>This query counts how many unique employees took leaves each year.</a:t>
            </a:r>
            <a:br>
              <a:rPr lang="en-US" dirty="0"/>
            </a:br>
            <a:r>
              <a:rPr lang="en-US" dirty="0"/>
              <a:t>It groups data by year and shows that 60 employees took leaves in 2024.</a:t>
            </a:r>
          </a:p>
        </p:txBody>
      </p:sp>
      <p:sp>
        <p:nvSpPr>
          <p:cNvPr id="6" name="Text Placeholder 5">
            <a:extLst>
              <a:ext uri="{FF2B5EF4-FFF2-40B4-BE49-F238E27FC236}">
                <a16:creationId xmlns:a16="http://schemas.microsoft.com/office/drawing/2014/main" id="{8700E54E-E725-8F4B-4008-84B220FD4B29}"/>
              </a:ext>
            </a:extLst>
          </p:cNvPr>
          <p:cNvSpPr>
            <a:spLocks noGrp="1"/>
          </p:cNvSpPr>
          <p:nvPr>
            <p:ph type="body" idx="1"/>
          </p:nvPr>
        </p:nvSpPr>
        <p:spPr>
          <a:xfrm>
            <a:off x="494522" y="1343608"/>
            <a:ext cx="10859278" cy="4833355"/>
          </a:xfrm>
        </p:spPr>
        <p:txBody>
          <a:bodyPr/>
          <a:lstStyle/>
          <a:p>
            <a:endParaRPr lang="en-IN" dirty="0"/>
          </a:p>
        </p:txBody>
      </p:sp>
      <p:pic>
        <p:nvPicPr>
          <p:cNvPr id="8" name="Picture 7">
            <a:extLst>
              <a:ext uri="{FF2B5EF4-FFF2-40B4-BE49-F238E27FC236}">
                <a16:creationId xmlns:a16="http://schemas.microsoft.com/office/drawing/2014/main" id="{04F66A2E-D7B2-595E-FFEA-661EF6125F5D}"/>
              </a:ext>
            </a:extLst>
          </p:cNvPr>
          <p:cNvPicPr>
            <a:picLocks noChangeAspect="1"/>
          </p:cNvPicPr>
          <p:nvPr/>
        </p:nvPicPr>
        <p:blipFill>
          <a:blip r:embed="rId2"/>
          <a:stretch>
            <a:fillRect/>
          </a:stretch>
        </p:blipFill>
        <p:spPr>
          <a:xfrm>
            <a:off x="559837" y="1464906"/>
            <a:ext cx="10655559" cy="310709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9034" y="152400"/>
            <a:ext cx="8553526" cy="612170"/>
          </a:xfrm>
        </p:spPr>
        <p:txBody>
          <a:bodyPr>
            <a:noAutofit/>
          </a:bodyPr>
          <a:lstStyle/>
          <a:p>
            <a:r>
              <a:rPr lang="en-US" sz="1800" b="1" i="0" u="none" strike="noStrike" dirty="0">
                <a:solidFill>
                  <a:srgbClr val="C00000"/>
                </a:solidFill>
                <a:effectLst/>
                <a:latin typeface="Times New Roman" panose="02020603050405020304" pitchFamily="18" charset="0"/>
                <a:cs typeface="Times New Roman" panose="02020603050405020304" pitchFamily="18" charset="0"/>
              </a:rPr>
              <a:t>What is the average number of leave days taken by its employees per department?</a:t>
            </a:r>
            <a:br>
              <a:rPr lang="en-US" sz="1800" b="1" i="0" u="none" strike="noStrike" dirty="0">
                <a:solidFill>
                  <a:srgbClr val="C00000"/>
                </a:solidFill>
                <a:effectLst/>
                <a:latin typeface="Times New Roman" panose="02020603050405020304" pitchFamily="18" charset="0"/>
                <a:cs typeface="Times New Roman" panose="02020603050405020304" pitchFamily="18" charset="0"/>
              </a:rPr>
            </a:br>
            <a:endParaRPr lang="en-US" sz="1800" b="1" dirty="0">
              <a:solidFill>
                <a:srgbClr val="C0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746448" y="5034914"/>
            <a:ext cx="9179871" cy="523220"/>
          </a:xfrm>
          <a:prstGeom prst="rect">
            <a:avLst/>
          </a:prstGeom>
          <a:noFill/>
        </p:spPr>
        <p:txBody>
          <a:bodyPr wrap="square" rtlCol="0">
            <a:spAutoFit/>
          </a:bodyPr>
          <a:lstStyle/>
          <a:p>
            <a:r>
              <a:rPr lang="en-US" dirty="0"/>
              <a:t>This query calculates the average number of leave days taken by employees in each department.</a:t>
            </a:r>
            <a:br>
              <a:rPr lang="en-US" dirty="0"/>
            </a:br>
            <a:r>
              <a:rPr lang="en-US" dirty="0"/>
              <a:t>It groups results by department and shows that all departments have an average of 1 leave day.</a:t>
            </a:r>
          </a:p>
        </p:txBody>
      </p:sp>
      <p:sp>
        <p:nvSpPr>
          <p:cNvPr id="6" name="Text Placeholder 5">
            <a:extLst>
              <a:ext uri="{FF2B5EF4-FFF2-40B4-BE49-F238E27FC236}">
                <a16:creationId xmlns:a16="http://schemas.microsoft.com/office/drawing/2014/main" id="{52D197F8-3868-F329-4F43-B59B1E09BBAB}"/>
              </a:ext>
            </a:extLst>
          </p:cNvPr>
          <p:cNvSpPr>
            <a:spLocks noGrp="1"/>
          </p:cNvSpPr>
          <p:nvPr>
            <p:ph type="body" idx="1"/>
          </p:nvPr>
        </p:nvSpPr>
        <p:spPr>
          <a:xfrm>
            <a:off x="634482" y="684461"/>
            <a:ext cx="10719318" cy="5492502"/>
          </a:xfrm>
        </p:spPr>
        <p:txBody>
          <a:bodyPr/>
          <a:lstStyle/>
          <a:p>
            <a:endParaRPr lang="en-IN" dirty="0"/>
          </a:p>
        </p:txBody>
      </p:sp>
      <p:pic>
        <p:nvPicPr>
          <p:cNvPr id="10" name="Picture 9">
            <a:extLst>
              <a:ext uri="{FF2B5EF4-FFF2-40B4-BE49-F238E27FC236}">
                <a16:creationId xmlns:a16="http://schemas.microsoft.com/office/drawing/2014/main" id="{DAE68082-9357-47CA-9010-5200C7A0E2F9}"/>
              </a:ext>
            </a:extLst>
          </p:cNvPr>
          <p:cNvPicPr>
            <a:picLocks noChangeAspect="1"/>
          </p:cNvPicPr>
          <p:nvPr/>
        </p:nvPicPr>
        <p:blipFill>
          <a:blip r:embed="rId2"/>
          <a:stretch>
            <a:fillRect/>
          </a:stretch>
        </p:blipFill>
        <p:spPr>
          <a:xfrm>
            <a:off x="634482" y="677117"/>
            <a:ext cx="10627567" cy="410948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433" y="104588"/>
            <a:ext cx="4796327" cy="576132"/>
          </a:xfrm>
        </p:spPr>
        <p:txBody>
          <a:bodyPr>
            <a:noAutofit/>
          </a:bodyPr>
          <a:lstStyle/>
          <a:p>
            <a:r>
              <a:rPr lang="en-US" sz="1800" b="1" i="0" u="none" strike="noStrike" dirty="0">
                <a:solidFill>
                  <a:srgbClr val="C00000"/>
                </a:solidFill>
                <a:effectLst/>
                <a:latin typeface="Times New Roman" panose="02020603050405020304" pitchFamily="18" charset="0"/>
                <a:cs typeface="Times New Roman" panose="02020603050405020304" pitchFamily="18" charset="0"/>
              </a:rPr>
              <a:t>Which employees have taken the most leaves?</a:t>
            </a:r>
            <a:br>
              <a:rPr lang="en-US" sz="1800" b="1" i="0" u="none" strike="noStrike" dirty="0">
                <a:solidFill>
                  <a:srgbClr val="C00000"/>
                </a:solidFill>
                <a:effectLst/>
                <a:latin typeface="Times New Roman" panose="02020603050405020304" pitchFamily="18" charset="0"/>
                <a:cs typeface="Times New Roman" panose="02020603050405020304" pitchFamily="18" charset="0"/>
              </a:rPr>
            </a:br>
            <a:endParaRPr lang="en-US" sz="1800" b="1" dirty="0">
              <a:solidFill>
                <a:srgbClr val="C0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569167" y="5290456"/>
            <a:ext cx="8838992" cy="738664"/>
          </a:xfrm>
          <a:prstGeom prst="rect">
            <a:avLst/>
          </a:prstGeom>
          <a:noFill/>
        </p:spPr>
        <p:txBody>
          <a:bodyPr wrap="square" rtlCol="0">
            <a:spAutoFit/>
          </a:bodyPr>
          <a:lstStyle/>
          <a:p>
            <a:r>
              <a:rPr lang="en-US" dirty="0"/>
              <a:t>This query lists the top 5 employees who took the most leaves.</a:t>
            </a:r>
            <a:br>
              <a:rPr lang="en-US" dirty="0"/>
            </a:br>
            <a:r>
              <a:rPr lang="en-US" dirty="0"/>
              <a:t>It joins the Leaves and Employee tables, counts total leaves per employee, and orders them in descending order.</a:t>
            </a:r>
          </a:p>
        </p:txBody>
      </p:sp>
      <p:sp>
        <p:nvSpPr>
          <p:cNvPr id="6" name="Text Placeholder 5">
            <a:extLst>
              <a:ext uri="{FF2B5EF4-FFF2-40B4-BE49-F238E27FC236}">
                <a16:creationId xmlns:a16="http://schemas.microsoft.com/office/drawing/2014/main" id="{834F5FE5-CA37-F369-DD76-4E63587EFA6D}"/>
              </a:ext>
            </a:extLst>
          </p:cNvPr>
          <p:cNvSpPr>
            <a:spLocks noGrp="1"/>
          </p:cNvSpPr>
          <p:nvPr>
            <p:ph type="body" idx="1"/>
          </p:nvPr>
        </p:nvSpPr>
        <p:spPr>
          <a:xfrm>
            <a:off x="569168" y="550507"/>
            <a:ext cx="10384972" cy="5626456"/>
          </a:xfrm>
        </p:spPr>
        <p:txBody>
          <a:bodyPr/>
          <a:lstStyle/>
          <a:p>
            <a:endParaRPr lang="en-IN" dirty="0"/>
          </a:p>
        </p:txBody>
      </p:sp>
      <p:pic>
        <p:nvPicPr>
          <p:cNvPr id="8" name="Picture 7">
            <a:extLst>
              <a:ext uri="{FF2B5EF4-FFF2-40B4-BE49-F238E27FC236}">
                <a16:creationId xmlns:a16="http://schemas.microsoft.com/office/drawing/2014/main" id="{026760C5-803A-F27B-A653-A25B83CF2C15}"/>
              </a:ext>
            </a:extLst>
          </p:cNvPr>
          <p:cNvPicPr>
            <a:picLocks noChangeAspect="1"/>
          </p:cNvPicPr>
          <p:nvPr/>
        </p:nvPicPr>
        <p:blipFill>
          <a:blip r:embed="rId2"/>
          <a:stretch>
            <a:fillRect/>
          </a:stretch>
        </p:blipFill>
        <p:spPr>
          <a:xfrm>
            <a:off x="611933" y="550507"/>
            <a:ext cx="10299442" cy="455074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720" y="162559"/>
            <a:ext cx="6233160" cy="882469"/>
          </a:xfrm>
        </p:spPr>
        <p:txBody>
          <a:bodyPr>
            <a:noAutofit/>
          </a:bodyPr>
          <a:lstStyle/>
          <a:p>
            <a:r>
              <a:rPr lang="en-US" sz="1800" b="1" i="0" u="none" strike="noStrike" dirty="0">
                <a:solidFill>
                  <a:srgbClr val="C00000"/>
                </a:solidFill>
                <a:effectLst/>
                <a:latin typeface="Times New Roman" panose="02020603050405020304" pitchFamily="18" charset="0"/>
                <a:cs typeface="Times New Roman" panose="02020603050405020304" pitchFamily="18" charset="0"/>
              </a:rPr>
              <a:t>What is the total number of leave days taken company-wide?</a:t>
            </a:r>
            <a:br>
              <a:rPr lang="en-US" sz="1800" b="1" i="0" u="none" strike="noStrike" dirty="0">
                <a:solidFill>
                  <a:srgbClr val="C00000"/>
                </a:solidFill>
                <a:effectLst/>
                <a:latin typeface="Times New Roman" panose="02020603050405020304" pitchFamily="18" charset="0"/>
                <a:cs typeface="Times New Roman" panose="02020603050405020304" pitchFamily="18" charset="0"/>
              </a:rPr>
            </a:br>
            <a:endParaRPr lang="en-US" sz="1800" dirty="0"/>
          </a:p>
        </p:txBody>
      </p:sp>
      <p:sp>
        <p:nvSpPr>
          <p:cNvPr id="3" name="TextBox 2"/>
          <p:cNvSpPr txBox="1"/>
          <p:nvPr/>
        </p:nvSpPr>
        <p:spPr>
          <a:xfrm>
            <a:off x="821094" y="3688080"/>
            <a:ext cx="7398346" cy="523220"/>
          </a:xfrm>
          <a:prstGeom prst="rect">
            <a:avLst/>
          </a:prstGeom>
          <a:noFill/>
        </p:spPr>
        <p:txBody>
          <a:bodyPr wrap="square" rtlCol="0">
            <a:spAutoFit/>
          </a:bodyPr>
          <a:lstStyle/>
          <a:p>
            <a:r>
              <a:rPr lang="en-US" dirty="0"/>
              <a:t>This query counts the total number of leave records in the Leaves table.</a:t>
            </a:r>
            <a:br>
              <a:rPr lang="en-US" dirty="0"/>
            </a:br>
            <a:r>
              <a:rPr lang="en-US" dirty="0"/>
              <a:t>It shows that employees collectively took 60 leave days.</a:t>
            </a:r>
          </a:p>
        </p:txBody>
      </p:sp>
      <p:sp>
        <p:nvSpPr>
          <p:cNvPr id="6" name="Text Placeholder 5">
            <a:extLst>
              <a:ext uri="{FF2B5EF4-FFF2-40B4-BE49-F238E27FC236}">
                <a16:creationId xmlns:a16="http://schemas.microsoft.com/office/drawing/2014/main" id="{C40082AF-B070-671A-A89F-2A2424804C1D}"/>
              </a:ext>
            </a:extLst>
          </p:cNvPr>
          <p:cNvSpPr>
            <a:spLocks noGrp="1"/>
          </p:cNvSpPr>
          <p:nvPr>
            <p:ph type="body" idx="1"/>
          </p:nvPr>
        </p:nvSpPr>
        <p:spPr>
          <a:xfrm>
            <a:off x="457978" y="811763"/>
            <a:ext cx="10868608" cy="3928187"/>
          </a:xfrm>
        </p:spPr>
        <p:txBody>
          <a:bodyPr/>
          <a:lstStyle/>
          <a:p>
            <a:endParaRPr lang="en-IN" dirty="0"/>
          </a:p>
        </p:txBody>
      </p:sp>
      <p:pic>
        <p:nvPicPr>
          <p:cNvPr id="8" name="Picture 7">
            <a:extLst>
              <a:ext uri="{FF2B5EF4-FFF2-40B4-BE49-F238E27FC236}">
                <a16:creationId xmlns:a16="http://schemas.microsoft.com/office/drawing/2014/main" id="{E114648B-651C-FA06-B3F9-21A76317DA22}"/>
              </a:ext>
            </a:extLst>
          </p:cNvPr>
          <p:cNvPicPr>
            <a:picLocks noChangeAspect="1"/>
          </p:cNvPicPr>
          <p:nvPr/>
        </p:nvPicPr>
        <p:blipFill>
          <a:blip r:embed="rId2"/>
          <a:stretch>
            <a:fillRect/>
          </a:stretch>
        </p:blipFill>
        <p:spPr>
          <a:xfrm>
            <a:off x="634482" y="895738"/>
            <a:ext cx="10515600" cy="253326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522" y="121920"/>
            <a:ext cx="5923878" cy="508000"/>
          </a:xfrm>
        </p:spPr>
        <p:txBody>
          <a:bodyPr>
            <a:normAutofit/>
          </a:bodyPr>
          <a:lstStyle/>
          <a:p>
            <a:r>
              <a:rPr lang="en-US" sz="1800" b="1" i="0" u="none" strike="noStrike" dirty="0">
                <a:solidFill>
                  <a:srgbClr val="C00000"/>
                </a:solidFill>
                <a:effectLst/>
                <a:latin typeface="Times New Roman" panose="02020603050405020304" pitchFamily="18" charset="0"/>
                <a:cs typeface="Times New Roman" panose="02020603050405020304" pitchFamily="18" charset="0"/>
              </a:rPr>
              <a:t>How do leave days correlate with payroll amounts?</a:t>
            </a:r>
            <a:endParaRPr lang="en-US" sz="1800" dirty="0"/>
          </a:p>
        </p:txBody>
      </p:sp>
      <p:sp>
        <p:nvSpPr>
          <p:cNvPr id="3" name="TextBox 2"/>
          <p:cNvSpPr txBox="1"/>
          <p:nvPr/>
        </p:nvSpPr>
        <p:spPr>
          <a:xfrm>
            <a:off x="485192" y="5489416"/>
            <a:ext cx="7967928" cy="523220"/>
          </a:xfrm>
          <a:prstGeom prst="rect">
            <a:avLst/>
          </a:prstGeom>
          <a:noFill/>
        </p:spPr>
        <p:txBody>
          <a:bodyPr wrap="square" rtlCol="0">
            <a:spAutoFit/>
          </a:bodyPr>
          <a:lstStyle/>
          <a:p>
            <a:r>
              <a:rPr lang="en-US" dirty="0"/>
              <a:t>This query displays each employee’s total leaves and their average payroll amount.</a:t>
            </a:r>
            <a:br>
              <a:rPr lang="en-US" dirty="0"/>
            </a:br>
            <a:r>
              <a:rPr lang="en-US" dirty="0"/>
              <a:t>It joins Employee, Leaves, and Payroll tables, grouping by employee and ordering by total leaves.</a:t>
            </a:r>
          </a:p>
        </p:txBody>
      </p:sp>
      <p:sp>
        <p:nvSpPr>
          <p:cNvPr id="6" name="Text Placeholder 5">
            <a:extLst>
              <a:ext uri="{FF2B5EF4-FFF2-40B4-BE49-F238E27FC236}">
                <a16:creationId xmlns:a16="http://schemas.microsoft.com/office/drawing/2014/main" id="{F598982E-8248-CE4C-9F04-61B2A34AE610}"/>
              </a:ext>
            </a:extLst>
          </p:cNvPr>
          <p:cNvSpPr>
            <a:spLocks noGrp="1"/>
          </p:cNvSpPr>
          <p:nvPr>
            <p:ph type="body" idx="1"/>
          </p:nvPr>
        </p:nvSpPr>
        <p:spPr>
          <a:xfrm>
            <a:off x="485192" y="629920"/>
            <a:ext cx="10868608" cy="5547043"/>
          </a:xfrm>
        </p:spPr>
        <p:txBody>
          <a:bodyPr/>
          <a:lstStyle/>
          <a:p>
            <a:endParaRPr lang="en-IN" dirty="0"/>
          </a:p>
        </p:txBody>
      </p:sp>
      <p:pic>
        <p:nvPicPr>
          <p:cNvPr id="8" name="Picture 7">
            <a:extLst>
              <a:ext uri="{FF2B5EF4-FFF2-40B4-BE49-F238E27FC236}">
                <a16:creationId xmlns:a16="http://schemas.microsoft.com/office/drawing/2014/main" id="{9B7986E3-651F-0E8C-79AF-10C18D231074}"/>
              </a:ext>
            </a:extLst>
          </p:cNvPr>
          <p:cNvPicPr>
            <a:picLocks noChangeAspect="1"/>
          </p:cNvPicPr>
          <p:nvPr/>
        </p:nvPicPr>
        <p:blipFill>
          <a:blip r:embed="rId2"/>
          <a:stretch>
            <a:fillRect/>
          </a:stretch>
        </p:blipFill>
        <p:spPr>
          <a:xfrm>
            <a:off x="587828" y="681037"/>
            <a:ext cx="10765971" cy="464405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514" y="578498"/>
            <a:ext cx="8141888" cy="884542"/>
          </a:xfrm>
        </p:spPr>
        <p:txBody>
          <a:bodyPr>
            <a:normAutofit fontScale="90000"/>
          </a:bodyPr>
          <a:lstStyle/>
          <a:p>
            <a:pPr rtl="0">
              <a:spcBef>
                <a:spcPts val="1400"/>
              </a:spcBef>
              <a:spcAft>
                <a:spcPts val="400"/>
              </a:spcAft>
            </a:pPr>
            <a:r>
              <a:rPr lang="en-US" sz="2400" b="1" i="0" u="none" strike="noStrike" dirty="0">
                <a:solidFill>
                  <a:srgbClr val="000000"/>
                </a:solidFill>
                <a:effectLst/>
                <a:latin typeface="Times New Roman" panose="02020603050405020304" pitchFamily="18" charset="0"/>
                <a:cs typeface="Times New Roman" panose="02020603050405020304" pitchFamily="18" charset="0"/>
              </a:rPr>
              <a:t>5. PAYROLL AND COMPENSATION ANALYSIS</a:t>
            </a:r>
            <a:br>
              <a:rPr lang="en-US" b="1" dirty="0">
                <a:effectLst/>
              </a:rPr>
            </a:br>
            <a:br>
              <a:rPr lang="en-US" b="1" dirty="0">
                <a:effectLst/>
              </a:rPr>
            </a:br>
            <a:r>
              <a:rPr lang="en-US" b="1" dirty="0">
                <a:effectLst/>
              </a:rPr>
              <a:t>    </a:t>
            </a:r>
            <a:r>
              <a:rPr lang="en-US" sz="2200" b="1" i="0" u="none" strike="noStrike" dirty="0">
                <a:solidFill>
                  <a:srgbClr val="C00000"/>
                </a:solidFill>
                <a:effectLst/>
                <a:latin typeface="Times New Roman" panose="02020603050405020304" pitchFamily="18" charset="0"/>
                <a:cs typeface="Times New Roman" panose="02020603050405020304" pitchFamily="18" charset="0"/>
              </a:rPr>
              <a:t>What is the total monthly payroll processed?</a:t>
            </a:r>
            <a:br>
              <a:rPr lang="en-US" sz="2000" b="0" i="0" u="none" strike="noStrike" dirty="0">
                <a:solidFill>
                  <a:srgbClr val="000000"/>
                </a:solidFill>
                <a:effectLst/>
                <a:latin typeface="Times New Roman" panose="02020603050405020304" pitchFamily="18" charset="0"/>
                <a:cs typeface="Times New Roman" panose="02020603050405020304" pitchFamily="18" charset="0"/>
              </a:rPr>
            </a:br>
            <a:br>
              <a:rPr lang="en-US" sz="20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082350" y="5157694"/>
            <a:ext cx="7147249" cy="738664"/>
          </a:xfrm>
          <a:prstGeom prst="rect">
            <a:avLst/>
          </a:prstGeom>
          <a:noFill/>
        </p:spPr>
        <p:txBody>
          <a:bodyPr wrap="square" rtlCol="0">
            <a:spAutoFit/>
          </a:bodyPr>
          <a:lstStyle/>
          <a:p>
            <a:r>
              <a:rPr lang="en-US" dirty="0"/>
              <a:t>This query calculates the total payroll amount for each month.</a:t>
            </a:r>
            <a:br>
              <a:rPr lang="en-US" dirty="0"/>
            </a:br>
            <a:r>
              <a:rPr lang="en-US" dirty="0"/>
              <a:t>It groups payroll data by month and shows that in April 2024, the total payroll was 2,778,000.00.</a:t>
            </a:r>
          </a:p>
        </p:txBody>
      </p:sp>
      <p:sp>
        <p:nvSpPr>
          <p:cNvPr id="8" name="Text Placeholder 7">
            <a:extLst>
              <a:ext uri="{FF2B5EF4-FFF2-40B4-BE49-F238E27FC236}">
                <a16:creationId xmlns:a16="http://schemas.microsoft.com/office/drawing/2014/main" id="{0E60432F-1522-506C-238A-B28AE58954BF}"/>
              </a:ext>
            </a:extLst>
          </p:cNvPr>
          <p:cNvSpPr>
            <a:spLocks noGrp="1"/>
          </p:cNvSpPr>
          <p:nvPr>
            <p:ph type="body" idx="1"/>
          </p:nvPr>
        </p:nvSpPr>
        <p:spPr>
          <a:xfrm>
            <a:off x="681135" y="1604865"/>
            <a:ext cx="10672665" cy="4572098"/>
          </a:xfrm>
        </p:spPr>
        <p:txBody>
          <a:bodyPr/>
          <a:lstStyle/>
          <a:p>
            <a:endParaRPr lang="en-IN" dirty="0"/>
          </a:p>
        </p:txBody>
      </p:sp>
      <p:pic>
        <p:nvPicPr>
          <p:cNvPr id="10" name="Picture 9">
            <a:extLst>
              <a:ext uri="{FF2B5EF4-FFF2-40B4-BE49-F238E27FC236}">
                <a16:creationId xmlns:a16="http://schemas.microsoft.com/office/drawing/2014/main" id="{E690A8D7-C6AE-5AE8-380C-C7566578145D}"/>
              </a:ext>
            </a:extLst>
          </p:cNvPr>
          <p:cNvPicPr>
            <a:picLocks noChangeAspect="1"/>
          </p:cNvPicPr>
          <p:nvPr/>
        </p:nvPicPr>
        <p:blipFill>
          <a:blip r:embed="rId2"/>
          <a:stretch>
            <a:fillRect/>
          </a:stretch>
        </p:blipFill>
        <p:spPr>
          <a:xfrm>
            <a:off x="838200" y="1847461"/>
            <a:ext cx="10265229" cy="316840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734" y="239060"/>
            <a:ext cx="5479626" cy="482300"/>
          </a:xfrm>
        </p:spPr>
        <p:txBody>
          <a:bodyPr>
            <a:noAutofit/>
          </a:bodyPr>
          <a:lstStyle/>
          <a:p>
            <a:r>
              <a:rPr lang="en-US" sz="1800" b="1" i="0" u="none" strike="noStrike" dirty="0">
                <a:solidFill>
                  <a:srgbClr val="C00000"/>
                </a:solidFill>
                <a:effectLst/>
                <a:latin typeface="Times New Roman" panose="02020603050405020304" pitchFamily="18" charset="0"/>
                <a:cs typeface="Times New Roman" panose="02020603050405020304" pitchFamily="18" charset="0"/>
              </a:rPr>
              <a:t>  What is the average bonus given per department?</a:t>
            </a:r>
            <a:br>
              <a:rPr lang="en-US" sz="1800" b="1" i="0" u="none" strike="noStrike" dirty="0">
                <a:solidFill>
                  <a:srgbClr val="C00000"/>
                </a:solidFill>
                <a:effectLst/>
                <a:latin typeface="Times New Roman" panose="02020603050405020304" pitchFamily="18" charset="0"/>
                <a:cs typeface="Times New Roman" panose="02020603050405020304" pitchFamily="18" charset="0"/>
              </a:rPr>
            </a:br>
            <a:endParaRPr lang="en-US" sz="1800" b="1" dirty="0">
              <a:solidFill>
                <a:srgbClr val="C0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900056" y="4806176"/>
            <a:ext cx="7664824" cy="954107"/>
          </a:xfrm>
          <a:prstGeom prst="rect">
            <a:avLst/>
          </a:prstGeom>
          <a:noFill/>
        </p:spPr>
        <p:txBody>
          <a:bodyPr wrap="square" rtlCol="0">
            <a:spAutoFit/>
          </a:bodyPr>
          <a:lstStyle/>
          <a:p>
            <a:r>
              <a:rPr lang="en-US" dirty="0"/>
              <a:t>This query calculates the average bonus for each department.</a:t>
            </a:r>
            <a:br>
              <a:rPr lang="en-US" dirty="0"/>
            </a:br>
            <a:r>
              <a:rPr lang="en-US" dirty="0"/>
              <a:t>It groups results by department and orders them in descending order of average bonus, with the Legal department having the highest.</a:t>
            </a:r>
          </a:p>
          <a:p>
            <a:endParaRPr lang="en-US" dirty="0"/>
          </a:p>
        </p:txBody>
      </p:sp>
      <p:sp>
        <p:nvSpPr>
          <p:cNvPr id="8" name="Text Placeholder 7">
            <a:extLst>
              <a:ext uri="{FF2B5EF4-FFF2-40B4-BE49-F238E27FC236}">
                <a16:creationId xmlns:a16="http://schemas.microsoft.com/office/drawing/2014/main" id="{1ACD0AED-C81C-3A87-3836-F7B449B84E99}"/>
              </a:ext>
            </a:extLst>
          </p:cNvPr>
          <p:cNvSpPr>
            <a:spLocks noGrp="1"/>
          </p:cNvSpPr>
          <p:nvPr>
            <p:ph type="body" idx="1"/>
          </p:nvPr>
        </p:nvSpPr>
        <p:spPr>
          <a:xfrm>
            <a:off x="321734" y="721360"/>
            <a:ext cx="10737426" cy="5427611"/>
          </a:xfrm>
        </p:spPr>
        <p:txBody>
          <a:bodyPr/>
          <a:lstStyle/>
          <a:p>
            <a:endParaRPr lang="en-IN" dirty="0"/>
          </a:p>
        </p:txBody>
      </p:sp>
      <p:pic>
        <p:nvPicPr>
          <p:cNvPr id="10" name="Picture 9">
            <a:extLst>
              <a:ext uri="{FF2B5EF4-FFF2-40B4-BE49-F238E27FC236}">
                <a16:creationId xmlns:a16="http://schemas.microsoft.com/office/drawing/2014/main" id="{F177A440-15D2-95F8-BC83-5C6A910BD729}"/>
              </a:ext>
            </a:extLst>
          </p:cNvPr>
          <p:cNvPicPr>
            <a:picLocks noChangeAspect="1"/>
          </p:cNvPicPr>
          <p:nvPr/>
        </p:nvPicPr>
        <p:blipFill>
          <a:blip r:embed="rId2"/>
          <a:stretch>
            <a:fillRect/>
          </a:stretch>
        </p:blipFill>
        <p:spPr>
          <a:xfrm>
            <a:off x="718457" y="781235"/>
            <a:ext cx="9467461" cy="396506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054" y="182880"/>
            <a:ext cx="6028466" cy="518160"/>
          </a:xfrm>
        </p:spPr>
        <p:txBody>
          <a:bodyPr>
            <a:normAutofit/>
          </a:bodyPr>
          <a:lstStyle/>
          <a:p>
            <a:r>
              <a:rPr lang="en-US" sz="1800" b="1" dirty="0">
                <a:solidFill>
                  <a:srgbClr val="C00000"/>
                </a:solidFill>
                <a:latin typeface="Times New Roman" panose="02020603050405020304" pitchFamily="18" charset="0"/>
                <a:cs typeface="Times New Roman" panose="02020603050405020304" pitchFamily="18" charset="0"/>
              </a:rPr>
              <a:t>Which department receives the highest total bonuses?</a:t>
            </a:r>
          </a:p>
        </p:txBody>
      </p:sp>
      <p:sp>
        <p:nvSpPr>
          <p:cNvPr id="3" name="TextBox 2"/>
          <p:cNvSpPr txBox="1"/>
          <p:nvPr/>
        </p:nvSpPr>
        <p:spPr>
          <a:xfrm>
            <a:off x="1223722" y="4836160"/>
            <a:ext cx="8092997" cy="738664"/>
          </a:xfrm>
          <a:prstGeom prst="rect">
            <a:avLst/>
          </a:prstGeom>
          <a:noFill/>
        </p:spPr>
        <p:txBody>
          <a:bodyPr wrap="square" rtlCol="0">
            <a:spAutoFit/>
          </a:bodyPr>
          <a:lstStyle/>
          <a:p>
            <a:r>
              <a:rPr lang="en-US" dirty="0"/>
              <a:t>This query calculates the total bonus amount for each department.</a:t>
            </a:r>
            <a:br>
              <a:rPr lang="en-US" dirty="0"/>
            </a:br>
            <a:r>
              <a:rPr lang="en-US" dirty="0"/>
              <a:t>It groups data by department and sorts them in descending order, showing Finance with the highest total bonus.</a:t>
            </a:r>
          </a:p>
        </p:txBody>
      </p:sp>
      <p:sp>
        <p:nvSpPr>
          <p:cNvPr id="6" name="Text Placeholder 5">
            <a:extLst>
              <a:ext uri="{FF2B5EF4-FFF2-40B4-BE49-F238E27FC236}">
                <a16:creationId xmlns:a16="http://schemas.microsoft.com/office/drawing/2014/main" id="{AA5DBC53-B389-DB76-8BA6-AE3CAE53F2C2}"/>
              </a:ext>
            </a:extLst>
          </p:cNvPr>
          <p:cNvSpPr>
            <a:spLocks noGrp="1"/>
          </p:cNvSpPr>
          <p:nvPr>
            <p:ph type="body" idx="1"/>
          </p:nvPr>
        </p:nvSpPr>
        <p:spPr>
          <a:xfrm>
            <a:off x="475861" y="701040"/>
            <a:ext cx="10877939" cy="5475923"/>
          </a:xfrm>
        </p:spPr>
        <p:txBody>
          <a:bodyPr/>
          <a:lstStyle/>
          <a:p>
            <a:endParaRPr lang="en-IN" dirty="0"/>
          </a:p>
        </p:txBody>
      </p:sp>
      <p:pic>
        <p:nvPicPr>
          <p:cNvPr id="8" name="Picture 7">
            <a:extLst>
              <a:ext uri="{FF2B5EF4-FFF2-40B4-BE49-F238E27FC236}">
                <a16:creationId xmlns:a16="http://schemas.microsoft.com/office/drawing/2014/main" id="{EF688CF9-E795-B3D4-4A7C-A7046BEBE4D2}"/>
              </a:ext>
            </a:extLst>
          </p:cNvPr>
          <p:cNvPicPr>
            <a:picLocks noChangeAspect="1"/>
          </p:cNvPicPr>
          <p:nvPr/>
        </p:nvPicPr>
        <p:blipFill>
          <a:blip r:embed="rId2"/>
          <a:stretch>
            <a:fillRect/>
          </a:stretch>
        </p:blipFill>
        <p:spPr>
          <a:xfrm>
            <a:off x="653143" y="1026367"/>
            <a:ext cx="10327682" cy="380979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572" y="142240"/>
            <a:ext cx="7912548" cy="660400"/>
          </a:xfrm>
        </p:spPr>
        <p:txBody>
          <a:bodyPr>
            <a:normAutofit/>
          </a:bodyPr>
          <a:lstStyle/>
          <a:p>
            <a:r>
              <a:rPr lang="en-US" sz="1800" b="1" dirty="0">
                <a:solidFill>
                  <a:srgbClr val="C00000"/>
                </a:solidFill>
                <a:latin typeface="Times New Roman" panose="02020603050405020304" pitchFamily="18" charset="0"/>
                <a:cs typeface="Times New Roman" panose="02020603050405020304" pitchFamily="18" charset="0"/>
              </a:rPr>
              <a:t>What is the average value of </a:t>
            </a:r>
            <a:r>
              <a:rPr lang="en-US" sz="1800" b="1" dirty="0" err="1">
                <a:solidFill>
                  <a:srgbClr val="C00000"/>
                </a:solidFill>
                <a:latin typeface="Times New Roman" panose="02020603050405020304" pitchFamily="18" charset="0"/>
                <a:cs typeface="Times New Roman" panose="02020603050405020304" pitchFamily="18" charset="0"/>
              </a:rPr>
              <a:t>total_amount</a:t>
            </a:r>
            <a:r>
              <a:rPr lang="en-US" sz="1800" b="1" dirty="0">
                <a:solidFill>
                  <a:srgbClr val="C00000"/>
                </a:solidFill>
                <a:latin typeface="Times New Roman" panose="02020603050405020304" pitchFamily="18" charset="0"/>
                <a:cs typeface="Times New Roman" panose="02020603050405020304" pitchFamily="18" charset="0"/>
              </a:rPr>
              <a:t> after considering leave deductions?</a:t>
            </a:r>
          </a:p>
        </p:txBody>
      </p:sp>
      <p:sp>
        <p:nvSpPr>
          <p:cNvPr id="3" name="TextBox 2"/>
          <p:cNvSpPr txBox="1"/>
          <p:nvPr/>
        </p:nvSpPr>
        <p:spPr>
          <a:xfrm>
            <a:off x="1194318" y="3464560"/>
            <a:ext cx="7004802" cy="523220"/>
          </a:xfrm>
          <a:prstGeom prst="rect">
            <a:avLst/>
          </a:prstGeom>
          <a:noFill/>
        </p:spPr>
        <p:txBody>
          <a:bodyPr wrap="square" rtlCol="0">
            <a:spAutoFit/>
          </a:bodyPr>
          <a:lstStyle/>
          <a:p>
            <a:r>
              <a:rPr lang="en-US" dirty="0"/>
              <a:t>This query calculates the average payroll amount after accounting for leaves.</a:t>
            </a:r>
            <a:br>
              <a:rPr lang="en-US" dirty="0"/>
            </a:br>
            <a:r>
              <a:rPr lang="en-US" dirty="0"/>
              <a:t>It shows that the average total payroll across all employees is 46,300.00.</a:t>
            </a:r>
          </a:p>
        </p:txBody>
      </p:sp>
      <p:sp>
        <p:nvSpPr>
          <p:cNvPr id="6" name="Text Placeholder 5">
            <a:extLst>
              <a:ext uri="{FF2B5EF4-FFF2-40B4-BE49-F238E27FC236}">
                <a16:creationId xmlns:a16="http://schemas.microsoft.com/office/drawing/2014/main" id="{A5528185-23EA-8073-D441-8753734057A6}"/>
              </a:ext>
            </a:extLst>
          </p:cNvPr>
          <p:cNvSpPr>
            <a:spLocks noGrp="1"/>
          </p:cNvSpPr>
          <p:nvPr>
            <p:ph type="body" idx="1"/>
          </p:nvPr>
        </p:nvSpPr>
        <p:spPr>
          <a:xfrm>
            <a:off x="485192" y="1054359"/>
            <a:ext cx="10868608" cy="3172408"/>
          </a:xfrm>
        </p:spPr>
        <p:txBody>
          <a:bodyPr/>
          <a:lstStyle/>
          <a:p>
            <a:endParaRPr lang="en-IN" dirty="0"/>
          </a:p>
        </p:txBody>
      </p:sp>
      <p:pic>
        <p:nvPicPr>
          <p:cNvPr id="8" name="Picture 7">
            <a:extLst>
              <a:ext uri="{FF2B5EF4-FFF2-40B4-BE49-F238E27FC236}">
                <a16:creationId xmlns:a16="http://schemas.microsoft.com/office/drawing/2014/main" id="{943D93C6-8F32-5D59-0063-F1FD95BA74A3}"/>
              </a:ext>
            </a:extLst>
          </p:cNvPr>
          <p:cNvPicPr>
            <a:picLocks noChangeAspect="1"/>
          </p:cNvPicPr>
          <p:nvPr/>
        </p:nvPicPr>
        <p:blipFill>
          <a:blip r:embed="rId2"/>
          <a:stretch>
            <a:fillRect/>
          </a:stretch>
        </p:blipFill>
        <p:spPr>
          <a:xfrm>
            <a:off x="923730" y="1054359"/>
            <a:ext cx="9843797" cy="233908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1722" y="365125"/>
            <a:ext cx="10402078" cy="952687"/>
          </a:xfrm>
        </p:spPr>
        <p:txBody>
          <a:bodyPr>
            <a:normAutofit/>
          </a:bodyPr>
          <a:lstStyle/>
          <a:p>
            <a:r>
              <a:rPr lang="en-US" sz="2400" b="1" dirty="0">
                <a:solidFill>
                  <a:srgbClr val="C00000"/>
                </a:solidFill>
                <a:latin typeface="Times New Roman" panose="02020603050405020304" pitchFamily="18" charset="0"/>
                <a:cs typeface="Times New Roman" panose="02020603050405020304" pitchFamily="18" charset="0"/>
              </a:rPr>
              <a:t>Final business insights and recommendations</a:t>
            </a:r>
          </a:p>
        </p:txBody>
      </p:sp>
      <p:sp>
        <p:nvSpPr>
          <p:cNvPr id="3" name="Content Placeholder 2"/>
          <p:cNvSpPr>
            <a:spLocks noGrp="1"/>
          </p:cNvSpPr>
          <p:nvPr>
            <p:ph idx="1"/>
          </p:nvPr>
        </p:nvSpPr>
        <p:spPr>
          <a:xfrm>
            <a:off x="677334" y="1317812"/>
            <a:ext cx="8596668" cy="4930587"/>
          </a:xfrm>
        </p:spPr>
        <p:txBody>
          <a:bodyPr>
            <a:normAutofit fontScale="77500" lnSpcReduction="20000"/>
          </a:bodyPr>
          <a:lstStyle/>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Departments with more employees may require additional resources and better management oversight.</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Highest-paid roles indicate key positions; these employees should be retained and motivated.</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Average salaries and total salary expenditures help in budget planning and financial forecasting.</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Employees with multiple qualifications can be considered for promotions or critical projects.</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Tracking leaves and absence patterns helps in workforce planning and minimizing productivity loss.</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Payroll and bonus analysis can optimize compensation strategies and reward performance effectively.</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Data-driven insights support HR decisions in recruitment, training, and role allocation.</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Monitoring employee trends ensures better operational efficiency and organizational growth.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normAutofit/>
          </a:bodyPr>
          <a:lstStyle/>
          <a:p>
            <a:r>
              <a:rPr lang="en-US" sz="2400" b="1" dirty="0">
                <a:solidFill>
                  <a:srgbClr val="C00000"/>
                </a:solidFill>
                <a:latin typeface="Times New Roman" panose="02020603050405020304" pitchFamily="18" charset="0"/>
                <a:cs typeface="Times New Roman" panose="02020603050405020304" pitchFamily="18" charset="0"/>
              </a:rPr>
              <a:t>Conclusion(Key finding overall)</a:t>
            </a:r>
          </a:p>
        </p:txBody>
      </p:sp>
      <p:sp>
        <p:nvSpPr>
          <p:cNvPr id="3" name="Content Placeholder 2"/>
          <p:cNvSpPr>
            <a:spLocks noGrp="1"/>
          </p:cNvSpPr>
          <p:nvPr>
            <p:ph idx="1"/>
          </p:nvPr>
        </p:nvSpPr>
        <p:spPr>
          <a:xfrm>
            <a:off x="677334" y="1223683"/>
            <a:ext cx="8596668" cy="4817680"/>
          </a:xfrm>
        </p:spPr>
        <p:txBody>
          <a:bodyPr>
            <a:normAutofit fontScale="92500" lnSpcReduction="20000"/>
          </a:bodyPr>
          <a:lstStyle/>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database efficiently organizes employee, department , payroll, leave, and qualification data.</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Salary and bonus analysis revealed key high-paying roles and departments with major expenditures.</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Employee qualifications and leave patterns provide insights for training and workforce planning.</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Payroll tracking ensures accurate compensation and highlights trends for financial planning.</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Data-driven insights support better HR decisions, resource allocation, and employee management.</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Overall, the system enables informed decision-making, improves operational efficiency, and enhances organizational performance.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1322"/>
          </a:xfrm>
        </p:spPr>
        <p:txBody>
          <a:bodyPr>
            <a:normAutofit/>
          </a:bodyPr>
          <a:lstStyle/>
          <a:p>
            <a:pPr algn="just"/>
            <a:r>
              <a:rPr lang="en-US" sz="2400" b="1" dirty="0">
                <a:solidFill>
                  <a:srgbClr val="C00000"/>
                </a:solidFill>
                <a:latin typeface="Times New Roman" panose="02020603050405020304" pitchFamily="18" charset="0"/>
                <a:cs typeface="Times New Roman" panose="02020603050405020304" pitchFamily="18" charset="0"/>
              </a:rPr>
              <a:t>Experience &amp; Challenges</a:t>
            </a:r>
          </a:p>
        </p:txBody>
      </p:sp>
      <p:sp>
        <p:nvSpPr>
          <p:cNvPr id="3" name="Content Placeholder 2"/>
          <p:cNvSpPr>
            <a:spLocks noGrp="1"/>
          </p:cNvSpPr>
          <p:nvPr>
            <p:ph idx="1"/>
          </p:nvPr>
        </p:nvSpPr>
        <p:spPr>
          <a:xfrm>
            <a:off x="677334" y="1156447"/>
            <a:ext cx="8596668" cy="4884915"/>
          </a:xfrm>
        </p:spPr>
        <p:txBody>
          <a:bodyPr>
            <a:normAutofit fontScale="92500" lnSpcReduction="10000"/>
          </a:bodyPr>
          <a:lstStyle/>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Gained hands-on experience in designing and managing relational databases with multiple tables.</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Learned to write complex SQL queries for analysis, aggregation, and joins.</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Understood relationships between tables and how foreign keys  maintain data integrity.</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Faced challenges in query optimization for faster results on large datasets.</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Learned to handle data consistency issues while linking payroll, leaves, and employee records.</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Improved problem- solving skills and ability to extract actionable insights from raw data.</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p>
          <a:p>
            <a:pPr marL="0" marR="0" lvl="0" indent="0" algn="l" rtl="0">
              <a:lnSpc>
                <a:spcPct val="100000"/>
              </a:lnSpc>
              <a:spcBef>
                <a:spcPts val="0"/>
              </a:spcBef>
              <a:spcAft>
                <a:spcPts val="0"/>
              </a:spcAft>
              <a:buClr>
                <a:srgbClr val="C00000"/>
              </a:buClr>
              <a:buSzPts val="4400"/>
              <a:buFont typeface="Libre Baskerville"/>
              <a:buNone/>
            </a:pPr>
            <a:endParaRPr lang="en-IN" sz="4400" dirty="0">
              <a:solidFill>
                <a:srgbClr val="C00000"/>
              </a:solidFill>
              <a:latin typeface="Libre Baskerville"/>
              <a:ea typeface="Calibri"/>
              <a:cs typeface="Calibri"/>
              <a:sym typeface="Libre Baskerville"/>
            </a:endParaRPr>
          </a:p>
          <a:p>
            <a:pPr marL="0" marR="0" lvl="0" indent="0" algn="l" rtl="0">
              <a:lnSpc>
                <a:spcPct val="100000"/>
              </a:lnSpc>
              <a:spcBef>
                <a:spcPts val="0"/>
              </a:spcBef>
              <a:spcAft>
                <a:spcPts val="0"/>
              </a:spcAft>
              <a:buClr>
                <a:srgbClr val="C00000"/>
              </a:buClr>
              <a:buSzPts val="4400"/>
              <a:buFont typeface="Libre Baskerville"/>
              <a:buNone/>
            </a:pPr>
            <a:endParaRPr lang="en-IN" sz="4400" b="0" i="0" u="none" strike="noStrike" cap="none" dirty="0">
              <a:solidFill>
                <a:srgbClr val="C00000"/>
              </a:solidFill>
              <a:latin typeface="Libre Baskerville"/>
              <a:ea typeface="Calibri"/>
              <a:cs typeface="Calibri"/>
              <a:sym typeface="Libre Baskerville"/>
            </a:endParaRPr>
          </a:p>
          <a:p>
            <a:pPr marL="0" marR="0" lvl="0" indent="0" algn="l" rtl="0">
              <a:lnSpc>
                <a:spcPct val="100000"/>
              </a:lnSpc>
              <a:spcBef>
                <a:spcPts val="0"/>
              </a:spcBef>
              <a:spcAft>
                <a:spcPts val="0"/>
              </a:spcAft>
              <a:buClr>
                <a:srgbClr val="C00000"/>
              </a:buClr>
              <a:buSzPts val="4400"/>
              <a:buFont typeface="Libre Baskerville"/>
              <a:buNone/>
            </a:pPr>
            <a:r>
              <a:rPr lang="en-IN" dirty="0">
                <a:solidFill>
                  <a:srgbClr val="C00000"/>
                </a:solidFill>
                <a:latin typeface="Libre Baskerville"/>
                <a:ea typeface="Calibri"/>
                <a:cs typeface="Calibri"/>
                <a:sym typeface="Libre Baskerville"/>
              </a:rPr>
              <a:t>BATHULA VENU GOPAL</a:t>
            </a:r>
            <a:endParaRPr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1674</Words>
  <Application>Microsoft Office PowerPoint</Application>
  <PresentationFormat>Widescreen</PresentationFormat>
  <Paragraphs>118</Paragraphs>
  <Slides>30</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Wingdings</vt:lpstr>
      <vt:lpstr>Times New Roman</vt:lpstr>
      <vt:lpstr>Libre Baskerville</vt:lpstr>
      <vt:lpstr>Lato Black</vt:lpstr>
      <vt:lpstr>Calibri</vt:lpstr>
      <vt:lpstr>inherit</vt:lpstr>
      <vt:lpstr>Arial</vt:lpstr>
      <vt:lpstr>gg sans</vt:lpstr>
      <vt:lpstr>Aptos</vt:lpstr>
      <vt:lpstr>Office Theme</vt:lpstr>
      <vt:lpstr>PowerPoint Presentation</vt:lpstr>
      <vt:lpstr>PowerPoint Presentation</vt:lpstr>
      <vt:lpstr>Objective: </vt:lpstr>
      <vt:lpstr>Problem Statement:  </vt:lpstr>
      <vt:lpstr>ER Diagram : </vt:lpstr>
      <vt:lpstr>Key Analysis:  1. Employee insights</vt:lpstr>
      <vt:lpstr>Which departments have the highest number of employees?</vt:lpstr>
      <vt:lpstr>What is the average salary per department?   </vt:lpstr>
      <vt:lpstr>Who are the top 5 highest-paid employees?  </vt:lpstr>
      <vt:lpstr>What is the total salary expenditure across the company? </vt:lpstr>
      <vt:lpstr>2. JOB ROLE AND DEPARTMENT ANALYSIS         How many different job roles exist in each department? </vt:lpstr>
      <vt:lpstr> What is the average salary range per department?   </vt:lpstr>
      <vt:lpstr>  Which job roles offer the highest salary? </vt:lpstr>
      <vt:lpstr>Which departments have the highest total salary allocation?</vt:lpstr>
      <vt:lpstr>   3. QUALIFICATION AND SKILLS ANALYSIS     How many employees have at least one qualification listed? </vt:lpstr>
      <vt:lpstr>Which positions require the most qualifications</vt:lpstr>
      <vt:lpstr>Which employees have the highest number of qualifications?</vt:lpstr>
      <vt:lpstr>4. LEAVE AND ABSENCE PATTERNS           Which year had the most employees taking leaves?    </vt:lpstr>
      <vt:lpstr>What is the average number of leave days taken by its employees per department? </vt:lpstr>
      <vt:lpstr>Which employees have taken the most leaves? </vt:lpstr>
      <vt:lpstr>What is the total number of leave days taken company-wide? </vt:lpstr>
      <vt:lpstr>How do leave days correlate with payroll amounts?</vt:lpstr>
      <vt:lpstr>5. PAYROLL AND COMPENSATION ANALYSIS      What is the total monthly payroll processed?  </vt:lpstr>
      <vt:lpstr>  What is the average bonus given per department? </vt:lpstr>
      <vt:lpstr>Which department receives the highest total bonuses?</vt:lpstr>
      <vt:lpstr>What is the average value of total_amount after considering leave deductions?</vt:lpstr>
      <vt:lpstr>Final business insights and recommendations</vt:lpstr>
      <vt:lpstr>Conclusion(Key finding overall)</vt:lpstr>
      <vt:lpstr>Experience &amp; Challenges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venu bathula</cp:lastModifiedBy>
  <cp:revision>2</cp:revision>
  <dcterms:created xsi:type="dcterms:W3CDTF">2021-02-16T05:19:01Z</dcterms:created>
  <dcterms:modified xsi:type="dcterms:W3CDTF">2025-11-22T06:24:18Z</dcterms:modified>
</cp:coreProperties>
</file>